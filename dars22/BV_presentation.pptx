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v" ContentType="video/x-ms-wm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7"/>
  </p:notesMasterIdLst>
  <p:sldIdLst>
    <p:sldId id="333" r:id="rId2"/>
    <p:sldId id="315" r:id="rId3"/>
    <p:sldId id="316" r:id="rId4"/>
    <p:sldId id="317" r:id="rId5"/>
    <p:sldId id="319" r:id="rId6"/>
    <p:sldId id="320" r:id="rId7"/>
    <p:sldId id="321" r:id="rId8"/>
    <p:sldId id="322" r:id="rId9"/>
    <p:sldId id="323" r:id="rId10"/>
    <p:sldId id="324" r:id="rId11"/>
    <p:sldId id="325" r:id="rId12"/>
    <p:sldId id="327" r:id="rId13"/>
    <p:sldId id="328" r:id="rId14"/>
    <p:sldId id="329" r:id="rId15"/>
    <p:sldId id="332" r:id="rId16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F1D23CF-D4FD-4554-63EA-4243AE2AE4D7}" name="Alexandra Quay Nilles" initials="AQN" userId="Alexandra Quay Nilles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4F2"/>
    <a:srgbClr val="0000FF"/>
    <a:srgbClr val="000000"/>
    <a:srgbClr val="1802BE"/>
    <a:srgbClr val="F55DF9"/>
    <a:srgbClr val="AE02A2"/>
    <a:srgbClr val="AB05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66" autoAdjust="0"/>
    <p:restoredTop sz="87322" autoAdjust="0"/>
  </p:normalViewPr>
  <p:slideViewPr>
    <p:cSldViewPr snapToGrid="0">
      <p:cViewPr varScale="1">
        <p:scale>
          <a:sx n="96" d="100"/>
          <a:sy n="96" d="100"/>
        </p:scale>
        <p:origin x="116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35F656-A032-4B21-95BC-3B169C893B7E}" type="datetimeFigureOut">
              <a:rPr lang="en-DE" smtClean="0"/>
              <a:t>05/24/2023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23AADF-AB2E-41C8-8BD1-ACE3746A088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26257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CE8E3A-6F65-CE4A-97FB-4EA4EA47220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705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CE8E3A-6F65-CE4A-97FB-4EA4EA47220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2618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Advantages:</a:t>
            </a:r>
          </a:p>
          <a:p>
            <a:pPr marL="228600" indent="-228600">
              <a:buAutoNum type="arabicPeriod"/>
            </a:pPr>
            <a:r>
              <a:rPr lang="en-US" dirty="0"/>
              <a:t>Longer persistence in environment, easier to verify designs</a:t>
            </a:r>
          </a:p>
          <a:p>
            <a:pPr marL="228600" indent="-228600">
              <a:buAutoNum type="arabicPeriod"/>
            </a:pPr>
            <a:r>
              <a:rPr lang="en-US" dirty="0"/>
              <a:t>More scalable up in number (ex: S2 still uses centralized conflict resolution / collision avoidance), down in size (</a:t>
            </a:r>
            <a:r>
              <a:rPr lang="en-US" dirty="0" err="1"/>
              <a:t>microbots</a:t>
            </a:r>
            <a:r>
              <a:rPr lang="en-US" dirty="0"/>
              <a:t>)</a:t>
            </a:r>
          </a:p>
          <a:p>
            <a:pPr marL="228600" indent="-228600">
              <a:buAutoNum type="arabicPeriod"/>
            </a:pPr>
            <a:r>
              <a:rPr lang="en-US" dirty="0"/>
              <a:t>Privacy: scene understanding and cameras may not be needed for tasks such as crowd navigation.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CE8E3A-6F65-CE4A-97FB-4EA4EA47220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78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Model has an embodied, control-theoretic grounding</a:t>
            </a:r>
          </a:p>
          <a:p>
            <a:pPr marL="228600" indent="-228600">
              <a:buAutoNum type="arabicPeriod"/>
            </a:pPr>
            <a:r>
              <a:rPr lang="en-US" dirty="0"/>
              <a:t>Simulation includes interactive demo; shows potential for coarse global control of reactive swarms, with potential for one or a few controllable agents within larger swarm</a:t>
            </a:r>
          </a:p>
          <a:p>
            <a:pPr marL="228600" indent="-228600">
              <a:buAutoNum type="arabicPeriod"/>
            </a:pPr>
            <a:r>
              <a:rPr lang="en-US" dirty="0"/>
              <a:t>Regimes: over-, under-stimulation and in between; related to density of agents in the space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CE8E3A-6F65-CE4A-97FB-4EA4EA47220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592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CE8E3A-6F65-CE4A-97FB-4EA4EA47220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6412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CE8E3A-6F65-CE4A-97FB-4EA4EA47220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1287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CE8E3A-6F65-CE4A-97FB-4EA4EA47220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7305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CE8E3A-6F65-CE4A-97FB-4EA4EA47220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0887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CE8E3A-6F65-CE4A-97FB-4EA4EA47220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8091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CE8E3A-6F65-CE4A-97FB-4EA4EA47220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0546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CE8E3A-6F65-CE4A-97FB-4EA4EA47220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4048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CE8E3A-6F65-CE4A-97FB-4EA4EA47220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0367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CE8E3A-6F65-CE4A-97FB-4EA4EA47220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6097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CE8E3A-6F65-CE4A-97FB-4EA4EA47220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440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06196-7125-4820-9E52-F504FA5FBF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6964B4-6D75-482F-AED1-DCF2EBCA4A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10040-10B5-4112-89E8-F2F5FAE10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06AF-737F-45DC-90B9-1187280168CC}" type="datetime1">
              <a:rPr lang="en-US" smtClean="0"/>
              <a:t>5/24/2023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C6FE7-5D4C-479F-9601-A745BDAEC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86143-A083-4A1C-BF97-C925EC468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9369" y="6556497"/>
            <a:ext cx="2743200" cy="2730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7F525A0-6F00-4A77-8AB6-990EBD81267F}" type="slidenum">
              <a:rPr lang="en-DE" smtClean="0"/>
              <a:pPr/>
              <a:t>‹#›</a:t>
            </a:fld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427738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81923-50F8-48DB-BAE6-54B3039CE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30FF5-49BA-4EEB-8646-DB0041BFA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AF9B5-EB39-46F3-A41C-50CE3098D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BF45A-8F7B-4BE7-B0A3-BC17566B1FD2}" type="datetime1">
              <a:rPr lang="en-US" smtClean="0"/>
              <a:t>5/24/2023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599FF-2031-47D3-8692-EA9D304F5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5DCD8-27F2-4171-BA06-F51E22695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525A0-6F00-4A77-8AB6-990EBD81267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46668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C252F-BB7D-492C-8C09-F91C57A64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D705C-E6B0-4F47-B98E-9AA77602D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36AC9-3A9E-4047-A707-2D62A7BAA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8DEBA-4383-4462-9462-BBFE53D60A19}" type="datetime1">
              <a:rPr lang="en-US" smtClean="0"/>
              <a:t>5/24/2023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97C6C-7F3C-4A61-A778-55B850A26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A74E8-2DC7-45CF-BD9A-F200619F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525A0-6F00-4A77-8AB6-990EBD81267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00504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7215B-7DBD-4019-BDD9-1CFB9AEB3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A8278-5E67-44E3-9179-A5AB0178C1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0CEFFE-1A59-4A0E-B0DE-223BA6432E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B36840-C1D4-458F-AE05-5567E57E7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D20A5-50E2-4F91-A2FF-D050D0E7FFC2}" type="datetime1">
              <a:rPr lang="en-US" smtClean="0"/>
              <a:t>5/24/2023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4C5333-73B7-4202-B5B4-5656FB6D5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B3F900-647C-46F6-B8DB-A83A218E1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525A0-6F00-4A77-8AB6-990EBD81267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14750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B533F-9448-4597-BF38-69CDECD58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A8FD0-FBBC-4388-9927-DEDB85B65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4BE173-3CAA-4CB6-BF55-F24071A4C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D640F1-9454-4B92-828B-CBA6671034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24BC95-8BC5-433D-8DB6-45BC8C6921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4C8391-2963-4ACF-AD47-DE9AF5C3B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433AE-377E-43E8-B367-F4556AF4C23D}" type="datetime1">
              <a:rPr lang="en-US" smtClean="0"/>
              <a:t>5/24/2023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908247-541E-49C3-A552-2801A0ACC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CC3DD1-31EE-49E1-90BC-6F712334C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525A0-6F00-4A77-8AB6-990EBD81267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36088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E9E19-DED2-490C-9DE3-33BA6A3DF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F4857E-81CF-428B-B2AB-BE15F12C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9DA3C-EDF8-41CD-B8AB-41E653F029B0}" type="datetime1">
              <a:rPr lang="en-US" smtClean="0"/>
              <a:t>5/24/2023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0BD5A0-7DAE-4F11-8127-3C05C38B2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862324-3FA5-49BD-B1A9-C976A7ACF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525A0-6F00-4A77-8AB6-990EBD81267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88451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F1462A-6385-4B73-8007-2A3F8C0B6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1E438-009A-40F2-A831-F85CCC4E6A12}" type="datetime1">
              <a:rPr lang="en-US" smtClean="0"/>
              <a:t>5/24/2023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22B603-6353-4EE6-8518-D9C1E5906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4CCC94-0818-4957-A566-E53A196C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525A0-6F00-4A77-8AB6-990EBD81267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53625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DE13C-BAD7-4B27-9D9E-D0219189D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C991E-06F5-4923-B4AA-694709760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892A9-F3A7-4ECE-9193-AA505452E9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F3EB99-CFB4-4619-9BFD-A55EA68EB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7B82C-D008-44DB-9B61-39D57F8CA55D}" type="datetime1">
              <a:rPr lang="en-US" smtClean="0"/>
              <a:t>5/24/2023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B98347-88EF-48D1-A050-984D9A9B7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4A7466-9AF3-4D32-BC23-0908B570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525A0-6F00-4A77-8AB6-990EBD81267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60716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CD596-461C-4B7D-B2D7-640EFE020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EB8F16-4BE4-4AE3-876A-A59B3F708A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794694-0827-4964-8364-41844816B8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759410-148E-4CA0-9587-9F7AA395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D4890-C163-4975-8760-8FA17ECE8562}" type="datetime1">
              <a:rPr lang="en-US" smtClean="0"/>
              <a:t>5/24/2023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AD4F30-37A7-4596-AB67-4BD2D8A58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6DE399-2BE8-4DEC-B035-91A12CCF0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525A0-6F00-4A77-8AB6-990EBD81267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41031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F23FF-6488-4CE0-8D51-B492C4886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BF335B-950B-4D87-8773-831BD62A4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4F326-D687-4495-A060-86A660DA3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5833D-0D63-474B-A0D4-5300CA52FD6C}" type="datetime1">
              <a:rPr lang="en-US" smtClean="0"/>
              <a:t>5/24/2023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72003-E27A-4C79-A0F0-E458ED473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3EF39-CDD0-4018-B999-E2CCAC222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525A0-6F00-4A77-8AB6-990EBD81267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81463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1B697C-5E56-4FCE-83BC-C2F0446020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CAB827-6B3E-4D10-B491-388A741813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F9DD1-4A1E-4901-9531-7643B624F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920CB-F888-4BBE-A407-CB6081B2B8FC}" type="datetime1">
              <a:rPr lang="en-US" smtClean="0"/>
              <a:t>5/24/2023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C9FD4-5889-4A23-95BC-BE0EC1FF2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266B1-D4AA-4BBD-BFF4-E65F4231A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525A0-6F00-4A77-8AB6-990EBD81267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80455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945E91-B615-4B01-BC12-50542D648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A8294-D473-4BDC-8CEA-21BD5C697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8CE16-3E17-4277-BB04-20F91977EB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6896D0-A76F-458C-AEF1-23EB1C71D76F}" type="datetime1">
              <a:rPr lang="en-US" smtClean="0"/>
              <a:t>5/24/2023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9C4D3-3A46-4B2D-920F-E593C9AF5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168F7-E885-46AF-820E-1EBE592E3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17097"/>
            <a:ext cx="2743200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525A0-6F00-4A77-8AB6-990EBD81267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60212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3" Type="http://schemas.microsoft.com/office/2007/relationships/media" Target="../media/media3.wmv"/><Relationship Id="rId7" Type="http://schemas.openxmlformats.org/officeDocument/2006/relationships/slideLayout" Target="../slideLayouts/slideLayout1.xml"/><Relationship Id="rId12" Type="http://schemas.openxmlformats.org/officeDocument/2006/relationships/image" Target="../media/image18.png"/><Relationship Id="rId2" Type="http://schemas.openxmlformats.org/officeDocument/2006/relationships/video" Target="../media/media2.wmv"/><Relationship Id="rId1" Type="http://schemas.microsoft.com/office/2007/relationships/media" Target="../media/media2.wmv"/><Relationship Id="rId6" Type="http://schemas.openxmlformats.org/officeDocument/2006/relationships/video" Target="../media/media4.wmv"/><Relationship Id="rId11" Type="http://schemas.openxmlformats.org/officeDocument/2006/relationships/image" Target="../media/image17.png"/><Relationship Id="rId5" Type="http://schemas.microsoft.com/office/2007/relationships/media" Target="../media/media4.wmv"/><Relationship Id="rId10" Type="http://schemas.openxmlformats.org/officeDocument/2006/relationships/image" Target="../media/image16.png"/><Relationship Id="rId4" Type="http://schemas.openxmlformats.org/officeDocument/2006/relationships/video" Target="../media/media3.wmv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3" Type="http://schemas.microsoft.com/office/2007/relationships/media" Target="../media/media6.wmv"/><Relationship Id="rId7" Type="http://schemas.openxmlformats.org/officeDocument/2006/relationships/slideLayout" Target="../slideLayouts/slideLayout1.xml"/><Relationship Id="rId12" Type="http://schemas.openxmlformats.org/officeDocument/2006/relationships/image" Target="../media/image23.png"/><Relationship Id="rId2" Type="http://schemas.openxmlformats.org/officeDocument/2006/relationships/video" Target="../media/media5.wmv"/><Relationship Id="rId1" Type="http://schemas.microsoft.com/office/2007/relationships/media" Target="../media/media5.wmv"/><Relationship Id="rId6" Type="http://schemas.openxmlformats.org/officeDocument/2006/relationships/video" Target="../media/media7.wmv"/><Relationship Id="rId11" Type="http://schemas.openxmlformats.org/officeDocument/2006/relationships/image" Target="../media/image22.png"/><Relationship Id="rId5" Type="http://schemas.microsoft.com/office/2007/relationships/media" Target="../media/media7.wmv"/><Relationship Id="rId10" Type="http://schemas.openxmlformats.org/officeDocument/2006/relationships/image" Target="../media/image21.png"/><Relationship Id="rId4" Type="http://schemas.openxmlformats.org/officeDocument/2006/relationships/video" Target="../media/media6.wmv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3" Type="http://schemas.microsoft.com/office/2007/relationships/media" Target="../media/media9.wmv"/><Relationship Id="rId7" Type="http://schemas.openxmlformats.org/officeDocument/2006/relationships/slideLayout" Target="../slideLayouts/slideLayout1.xml"/><Relationship Id="rId12" Type="http://schemas.openxmlformats.org/officeDocument/2006/relationships/image" Target="../media/image28.png"/><Relationship Id="rId2" Type="http://schemas.openxmlformats.org/officeDocument/2006/relationships/video" Target="../media/media8.wmv"/><Relationship Id="rId1" Type="http://schemas.microsoft.com/office/2007/relationships/media" Target="../media/media8.wmv"/><Relationship Id="rId6" Type="http://schemas.openxmlformats.org/officeDocument/2006/relationships/video" Target="../media/media10.wmv"/><Relationship Id="rId11" Type="http://schemas.openxmlformats.org/officeDocument/2006/relationships/image" Target="../media/image27.png"/><Relationship Id="rId5" Type="http://schemas.microsoft.com/office/2007/relationships/media" Target="../media/media10.wmv"/><Relationship Id="rId10" Type="http://schemas.openxmlformats.org/officeDocument/2006/relationships/image" Target="../media/image26.png"/><Relationship Id="rId4" Type="http://schemas.openxmlformats.org/officeDocument/2006/relationships/video" Target="../media/media9.wmv"/><Relationship Id="rId9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3" Type="http://schemas.microsoft.com/office/2007/relationships/media" Target="../media/media12.wmv"/><Relationship Id="rId7" Type="http://schemas.openxmlformats.org/officeDocument/2006/relationships/slideLayout" Target="../slideLayouts/slideLayout1.xml"/><Relationship Id="rId12" Type="http://schemas.openxmlformats.org/officeDocument/2006/relationships/image" Target="../media/image32.png"/><Relationship Id="rId2" Type="http://schemas.openxmlformats.org/officeDocument/2006/relationships/video" Target="../media/media11.wmv"/><Relationship Id="rId1" Type="http://schemas.microsoft.com/office/2007/relationships/media" Target="../media/media11.wmv"/><Relationship Id="rId6" Type="http://schemas.openxmlformats.org/officeDocument/2006/relationships/video" Target="../media/media13.wmv"/><Relationship Id="rId11" Type="http://schemas.openxmlformats.org/officeDocument/2006/relationships/image" Target="../media/image31.png"/><Relationship Id="rId5" Type="http://schemas.microsoft.com/office/2007/relationships/media" Target="../media/media13.wmv"/><Relationship Id="rId10" Type="http://schemas.openxmlformats.org/officeDocument/2006/relationships/image" Target="../media/image30.png"/><Relationship Id="rId4" Type="http://schemas.openxmlformats.org/officeDocument/2006/relationships/video" Target="../media/media12.wmv"/><Relationship Id="rId9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3" Type="http://schemas.microsoft.com/office/2007/relationships/media" Target="../media/media15.wmv"/><Relationship Id="rId7" Type="http://schemas.openxmlformats.org/officeDocument/2006/relationships/slideLayout" Target="../slideLayouts/slideLayout1.xml"/><Relationship Id="rId2" Type="http://schemas.openxmlformats.org/officeDocument/2006/relationships/video" Target="../media/media14.wmv"/><Relationship Id="rId1" Type="http://schemas.microsoft.com/office/2007/relationships/media" Target="../media/media14.wmv"/><Relationship Id="rId6" Type="http://schemas.openxmlformats.org/officeDocument/2006/relationships/video" Target="../media/media16.wmv"/><Relationship Id="rId11" Type="http://schemas.openxmlformats.org/officeDocument/2006/relationships/image" Target="../media/image35.png"/><Relationship Id="rId5" Type="http://schemas.microsoft.com/office/2007/relationships/media" Target="../media/media16.wmv"/><Relationship Id="rId10" Type="http://schemas.openxmlformats.org/officeDocument/2006/relationships/image" Target="../media/image34.png"/><Relationship Id="rId4" Type="http://schemas.openxmlformats.org/officeDocument/2006/relationships/video" Target="../media/media15.wmv"/><Relationship Id="rId9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jpeg"/><Relationship Id="rId18" Type="http://schemas.openxmlformats.org/officeDocument/2006/relationships/image" Target="../media/image50.gif"/><Relationship Id="rId3" Type="http://schemas.openxmlformats.org/officeDocument/2006/relationships/hyperlink" Target="https://github.com/CEI-lab/DARS2022-BVcollectives" TargetMode="External"/><Relationship Id="rId7" Type="http://schemas.openxmlformats.org/officeDocument/2006/relationships/image" Target="../media/image40.jpeg"/><Relationship Id="rId12" Type="http://schemas.openxmlformats.org/officeDocument/2006/relationships/image" Target="../media/image45.jpeg"/><Relationship Id="rId17" Type="http://schemas.openxmlformats.org/officeDocument/2006/relationships/image" Target="../media/image49.png"/><Relationship Id="rId2" Type="http://schemas.openxmlformats.org/officeDocument/2006/relationships/image" Target="../media/image36.png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9.jpeg"/><Relationship Id="rId11" Type="http://schemas.openxmlformats.org/officeDocument/2006/relationships/image" Target="../media/image44.jpeg"/><Relationship Id="rId5" Type="http://schemas.openxmlformats.org/officeDocument/2006/relationships/image" Target="../media/image38.png"/><Relationship Id="rId15" Type="http://schemas.openxmlformats.org/officeDocument/2006/relationships/image" Target="../media/image48.jpeg"/><Relationship Id="rId10" Type="http://schemas.openxmlformats.org/officeDocument/2006/relationships/image" Target="../media/image43.jpeg"/><Relationship Id="rId4" Type="http://schemas.openxmlformats.org/officeDocument/2006/relationships/image" Target="../media/image37.jpeg"/><Relationship Id="rId9" Type="http://schemas.openxmlformats.org/officeDocument/2006/relationships/image" Target="../media/image42.jpeg"/><Relationship Id="rId14" Type="http://schemas.openxmlformats.org/officeDocument/2006/relationships/image" Target="../media/image4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59A75D0-E330-4507-08C8-822CD0BB34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6056" y="1109482"/>
            <a:ext cx="10507744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Characterization of the Design Space of Collective Braitenberg Vehicles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1BA2004-9F7B-7255-ED18-F69A6702D6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681204"/>
          </a:xfrm>
        </p:spPr>
        <p:txBody>
          <a:bodyPr/>
          <a:lstStyle/>
          <a:p>
            <a:r>
              <a:rPr lang="en-US" dirty="0"/>
              <a:t>Jack A. Defay, Alexandra Q. Nilles, and Kirstin Petersen</a:t>
            </a:r>
          </a:p>
        </p:txBody>
      </p:sp>
    </p:spTree>
    <p:extLst>
      <p:ext uri="{BB962C8B-B14F-4D97-AF65-F5344CB8AC3E}">
        <p14:creationId xmlns:p14="http://schemas.microsoft.com/office/powerpoint/2010/main" val="4078059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Rectangle 228">
            <a:extLst>
              <a:ext uri="{FF2B5EF4-FFF2-40B4-BE49-F238E27FC236}">
                <a16:creationId xmlns:a16="http://schemas.microsoft.com/office/drawing/2014/main" id="{720D07B5-1962-49B6-8024-0E6669A91AE3}"/>
              </a:ext>
            </a:extLst>
          </p:cNvPr>
          <p:cNvSpPr/>
          <p:nvPr/>
        </p:nvSpPr>
        <p:spPr>
          <a:xfrm>
            <a:off x="0" y="277348"/>
            <a:ext cx="91178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+mj-lt"/>
                <a:cs typeface="Arial" panose="020B0604020202020204" pitchFamily="34" charset="0"/>
              </a:rPr>
              <a:t>Braitenberg Vehicles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67638A-92A4-9AFD-98DC-226943BFF5CB}"/>
              </a:ext>
            </a:extLst>
          </p:cNvPr>
          <p:cNvSpPr txBox="1"/>
          <p:nvPr/>
        </p:nvSpPr>
        <p:spPr>
          <a:xfrm>
            <a:off x="3895724" y="923679"/>
            <a:ext cx="795337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Simple abstract vehicles: four “configurations” arising from two sensors, two actuators, and reactions to stimulus in environment</a:t>
            </a:r>
          </a:p>
          <a:p>
            <a:pPr marL="742950" lvl="1" indent="-285750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Kinesis: speeding up (+) or slowing down (-) in response to stimuli</a:t>
            </a:r>
          </a:p>
          <a:p>
            <a:pPr marL="742950" lvl="1" indent="-285750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Taxis: turning toward (+) or away (-) from stimuli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Towards reactive robotic collectives: onboard stimulus and the resulting collective dynamics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en-US" sz="2000" i="0" u="none" strike="noStrike" dirty="0">
              <a:effectLst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F86D801-D0DD-1DA7-18B9-5C7A5DB6E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440" y="1085417"/>
            <a:ext cx="3298042" cy="5024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912C9E6-A17D-30EA-6743-F8B612C870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9" t="8776" r="58815" b="28419"/>
          <a:stretch/>
        </p:blipFill>
        <p:spPr bwMode="auto">
          <a:xfrm>
            <a:off x="3895724" y="3792918"/>
            <a:ext cx="3806917" cy="263129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n 3">
            <a:extLst>
              <a:ext uri="{FF2B5EF4-FFF2-40B4-BE49-F238E27FC236}">
                <a16:creationId xmlns:a16="http://schemas.microsoft.com/office/drawing/2014/main" id="{4D4AF7E0-C306-3120-7BCE-5F98F2700CBF}"/>
              </a:ext>
            </a:extLst>
          </p:cNvPr>
          <p:cNvSpPr/>
          <p:nvPr/>
        </p:nvSpPr>
        <p:spPr>
          <a:xfrm>
            <a:off x="5436733" y="4929380"/>
            <a:ext cx="500459" cy="493836"/>
          </a:xfrm>
          <a:prstGeom prst="sun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D713237-E877-5C81-CE6F-E33ECE70A9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8110" y="3792918"/>
            <a:ext cx="2785785" cy="26312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0DC852-97F9-181E-72FC-8499ECD0C9B3}"/>
              </a:ext>
            </a:extLst>
          </p:cNvPr>
          <p:cNvSpPr txBox="1"/>
          <p:nvPr/>
        </p:nvSpPr>
        <p:spPr>
          <a:xfrm>
            <a:off x="11882362" y="6221791"/>
            <a:ext cx="241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68912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Rectangle 228">
            <a:extLst>
              <a:ext uri="{FF2B5EF4-FFF2-40B4-BE49-F238E27FC236}">
                <a16:creationId xmlns:a16="http://schemas.microsoft.com/office/drawing/2014/main" id="{720D07B5-1962-49B6-8024-0E6669A91AE3}"/>
              </a:ext>
            </a:extLst>
          </p:cNvPr>
          <p:cNvSpPr/>
          <p:nvPr/>
        </p:nvSpPr>
        <p:spPr>
          <a:xfrm>
            <a:off x="0" y="274320"/>
            <a:ext cx="91178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+mj-lt"/>
                <a:cs typeface="Arial" panose="020B0604020202020204" pitchFamily="34" charset="0"/>
              </a:rPr>
              <a:t>Motivation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2822B9-C43C-D11E-4DBA-BCABD9E2BE95}"/>
              </a:ext>
            </a:extLst>
          </p:cNvPr>
          <p:cNvSpPr txBox="1"/>
          <p:nvPr/>
        </p:nvSpPr>
        <p:spPr>
          <a:xfrm>
            <a:off x="5454086" y="745346"/>
            <a:ext cx="6625824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base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Goal: reactive collectives with switchable behaviors and minimal sensing/communication requirements</a:t>
            </a:r>
          </a:p>
          <a:p>
            <a:pPr rtl="0" fontAlgn="base">
              <a:spcBef>
                <a:spcPts val="0"/>
              </a:spcBef>
              <a:spcAft>
                <a:spcPts val="600"/>
              </a:spcAft>
            </a:pPr>
            <a:r>
              <a:rPr lang="en-US" sz="2000" dirty="0"/>
              <a:t>Advantages of </a:t>
            </a:r>
            <a:r>
              <a:rPr lang="en-US" sz="2000" b="1" dirty="0"/>
              <a:t>minimal, r</a:t>
            </a:r>
            <a:r>
              <a:rPr lang="en-US" sz="2000" b="1" i="0" u="none" strike="noStrike" dirty="0">
                <a:effectLst/>
              </a:rPr>
              <a:t>eactive, local </a:t>
            </a:r>
            <a:r>
              <a:rPr lang="en-US" sz="2000" i="0" u="none" strike="noStrike" dirty="0">
                <a:effectLst/>
              </a:rPr>
              <a:t>control: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</a:rPr>
              <a:t>Lower design complexity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</a:rPr>
              <a:t>More scalable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</a:rPr>
              <a:t>More private and secure</a:t>
            </a:r>
          </a:p>
          <a:p>
            <a:pPr fontAlgn="base">
              <a:spcAft>
                <a:spcPts val="600"/>
              </a:spcAft>
            </a:pPr>
            <a:r>
              <a:rPr lang="en-US" sz="2000" dirty="0"/>
              <a:t>Model with hardware implementation in mind:</a:t>
            </a:r>
          </a:p>
          <a:p>
            <a:pPr marL="800100" lvl="1" indent="-342900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Actuation noise</a:t>
            </a:r>
          </a:p>
          <a:p>
            <a:pPr marL="800100" lvl="1" indent="-342900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Geometric constraints on sensing and stimulus</a:t>
            </a:r>
          </a:p>
          <a:p>
            <a:pPr marL="800100" lvl="1" indent="-342900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Analyze system by varying constraints, gain, noise</a:t>
            </a:r>
          </a:p>
          <a:p>
            <a:pPr fontAlgn="base">
              <a:spcAft>
                <a:spcPts val="1800"/>
              </a:spcAft>
            </a:pPr>
            <a:r>
              <a:rPr lang="en-US" sz="2000" dirty="0"/>
              <a:t>Unifying framework for reactive collective design </a:t>
            </a:r>
          </a:p>
          <a:p>
            <a:pPr fontAlgn="base">
              <a:spcAft>
                <a:spcPts val="1800"/>
              </a:spcAft>
            </a:pPr>
            <a:r>
              <a:rPr lang="en-US" sz="2000" dirty="0"/>
              <a:t>Extensions to embodied learning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6392EA09-B478-8ACC-3135-B4C5A41DE2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10" r="4952"/>
          <a:stretch/>
        </p:blipFill>
        <p:spPr bwMode="auto">
          <a:xfrm>
            <a:off x="112090" y="1086132"/>
            <a:ext cx="2469036" cy="2449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B194F4-9F3A-3BC8-A9D2-19B526B476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90" y="3689184"/>
            <a:ext cx="5173321" cy="2449244"/>
          </a:xfrm>
          <a:prstGeom prst="rect">
            <a:avLst/>
          </a:prstGeom>
        </p:spPr>
      </p:pic>
      <p:pic>
        <p:nvPicPr>
          <p:cNvPr id="11" name="Picture 5">
            <a:extLst>
              <a:ext uri="{FF2B5EF4-FFF2-40B4-BE49-F238E27FC236}">
                <a16:creationId xmlns:a16="http://schemas.microsoft.com/office/drawing/2014/main" id="{81655E02-08B8-60A4-7D16-1CD9D43BC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9801" y="1265119"/>
            <a:ext cx="2375518" cy="2091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29EE29-9977-2898-E496-BFA54F6E492D}"/>
              </a:ext>
            </a:extLst>
          </p:cNvPr>
          <p:cNvSpPr txBox="1"/>
          <p:nvPr/>
        </p:nvSpPr>
        <p:spPr>
          <a:xfrm>
            <a:off x="11882362" y="6221791"/>
            <a:ext cx="241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74075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Rectangle 228">
            <a:extLst>
              <a:ext uri="{FF2B5EF4-FFF2-40B4-BE49-F238E27FC236}">
                <a16:creationId xmlns:a16="http://schemas.microsoft.com/office/drawing/2014/main" id="{720D07B5-1962-49B6-8024-0E6669A91AE3}"/>
              </a:ext>
            </a:extLst>
          </p:cNvPr>
          <p:cNvSpPr/>
          <p:nvPr/>
        </p:nvSpPr>
        <p:spPr>
          <a:xfrm>
            <a:off x="0" y="274320"/>
            <a:ext cx="91178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+mj-lt"/>
                <a:cs typeface="Arial" panose="020B0604020202020204" pitchFamily="34" charset="0"/>
              </a:rPr>
              <a:t>Highlights</a:t>
            </a:r>
          </a:p>
        </p:txBody>
      </p:sp>
      <p:pic>
        <p:nvPicPr>
          <p:cNvPr id="2" name="demo_video">
            <a:hlinkClick r:id="" action="ppaction://media"/>
            <a:extLst>
              <a:ext uri="{FF2B5EF4-FFF2-40B4-BE49-F238E27FC236}">
                <a16:creationId xmlns:a16="http://schemas.microsoft.com/office/drawing/2014/main" id="{D3CD9E19-7ACA-1CEF-ECA7-307FD971DD2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50914" y="1178582"/>
            <a:ext cx="4881907" cy="488190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7B77E3-9A2C-3D4C-6A49-14E6E7852049}"/>
              </a:ext>
            </a:extLst>
          </p:cNvPr>
          <p:cNvSpPr txBox="1"/>
          <p:nvPr/>
        </p:nvSpPr>
        <p:spPr>
          <a:xfrm>
            <a:off x="6096000" y="1178582"/>
            <a:ext cx="5700665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spcAft>
                <a:spcPts val="1800"/>
              </a:spcAft>
              <a:buFont typeface="+mj-lt"/>
              <a:buAutoNum type="arabicPeriod"/>
            </a:pPr>
            <a:r>
              <a:rPr lang="en-US" sz="2000" dirty="0"/>
              <a:t>Open-source simulation of Braitenberg Vehicles with onboard stimulus</a:t>
            </a:r>
          </a:p>
          <a:p>
            <a:pPr marL="342900" indent="-342900" fontAlgn="base">
              <a:spcAft>
                <a:spcPts val="1800"/>
              </a:spcAft>
              <a:buFont typeface="+mj-lt"/>
              <a:buAutoNum type="arabicPeriod"/>
            </a:pPr>
            <a:r>
              <a:rPr lang="en-US" sz="2000" dirty="0"/>
              <a:t>12 potential collective behaviors</a:t>
            </a:r>
          </a:p>
          <a:p>
            <a:pPr marL="342900" indent="-342900" fontAlgn="base">
              <a:spcAft>
                <a:spcPts val="1800"/>
              </a:spcAft>
              <a:buFont typeface="+mj-lt"/>
              <a:buAutoNum type="arabicPeriod"/>
            </a:pPr>
            <a:r>
              <a:rPr lang="en-US" sz="2000" dirty="0"/>
              <a:t>Aggregation, coverage, formations at high/low kinetic energy</a:t>
            </a:r>
          </a:p>
          <a:p>
            <a:pPr marL="342900" indent="-342900" fontAlgn="base">
              <a:spcAft>
                <a:spcPts val="1800"/>
              </a:spcAft>
              <a:buFont typeface="+mj-lt"/>
              <a:buAutoNum type="arabicPeriod"/>
            </a:pPr>
            <a:r>
              <a:rPr lang="en-US" sz="2000" dirty="0"/>
              <a:t>Robust to noise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F67384-0DE5-C843-1A86-83ED2B3C3393}"/>
              </a:ext>
            </a:extLst>
          </p:cNvPr>
          <p:cNvSpPr txBox="1"/>
          <p:nvPr/>
        </p:nvSpPr>
        <p:spPr>
          <a:xfrm>
            <a:off x="11882362" y="6221791"/>
            <a:ext cx="241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57926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3447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3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Rectangle 228">
            <a:extLst>
              <a:ext uri="{FF2B5EF4-FFF2-40B4-BE49-F238E27FC236}">
                <a16:creationId xmlns:a16="http://schemas.microsoft.com/office/drawing/2014/main" id="{720D07B5-1962-49B6-8024-0E6669A91AE3}"/>
              </a:ext>
            </a:extLst>
          </p:cNvPr>
          <p:cNvSpPr/>
          <p:nvPr/>
        </p:nvSpPr>
        <p:spPr>
          <a:xfrm>
            <a:off x="0" y="274320"/>
            <a:ext cx="91178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+mj-lt"/>
                <a:cs typeface="Arial" panose="020B0604020202020204" pitchFamily="34" charset="0"/>
              </a:rPr>
              <a:t>Stimulus and Sensing Models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C9CA3F-9496-CA1D-79C6-1F4472113191}"/>
              </a:ext>
            </a:extLst>
          </p:cNvPr>
          <p:cNvSpPr txBox="1"/>
          <p:nvPr/>
        </p:nvSpPr>
        <p:spPr>
          <a:xfrm>
            <a:off x="230569" y="1143189"/>
            <a:ext cx="44904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1800"/>
              </a:spcAft>
            </a:pPr>
            <a:r>
              <a:rPr lang="en-US" sz="2000" b="0" i="0" u="none" strike="noStrike" dirty="0">
                <a:effectLst/>
              </a:rPr>
              <a:t>Three combinations considered in paper:</a:t>
            </a:r>
            <a:endParaRPr lang="en-US" sz="2000" b="0" dirty="0">
              <a:effectLst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72A2FF-3209-A3F7-B86E-5B0A5CC3E5D9}"/>
              </a:ext>
            </a:extLst>
          </p:cNvPr>
          <p:cNvGrpSpPr/>
          <p:nvPr/>
        </p:nvGrpSpPr>
        <p:grpSpPr>
          <a:xfrm>
            <a:off x="1369151" y="2439649"/>
            <a:ext cx="9453698" cy="2826277"/>
            <a:chOff x="1114425" y="2439649"/>
            <a:chExt cx="9453698" cy="282627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C868A0A-3DDE-2CE5-1EC0-C48E93978C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4425" y="2439649"/>
              <a:ext cx="2812324" cy="281232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E6DFEB5-1611-68E0-71DB-8F3B640B81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35112" y="2453602"/>
              <a:ext cx="2812324" cy="281232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F70FA0D-4421-3FD3-E20F-EE13628A21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55799" y="2453602"/>
              <a:ext cx="2812324" cy="2812324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75F1A69-1631-1076-5EFA-E3FC05E57EA2}"/>
              </a:ext>
            </a:extLst>
          </p:cNvPr>
          <p:cNvSpPr txBox="1"/>
          <p:nvPr/>
        </p:nvSpPr>
        <p:spPr>
          <a:xfrm>
            <a:off x="1670412" y="1706622"/>
            <a:ext cx="2193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1. Both directional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B3BB16-B9DC-9B9F-E7BD-C918FE08AB9A}"/>
              </a:ext>
            </a:extLst>
          </p:cNvPr>
          <p:cNvSpPr txBox="1"/>
          <p:nvPr/>
        </p:nvSpPr>
        <p:spPr>
          <a:xfrm>
            <a:off x="4558937" y="1706622"/>
            <a:ext cx="327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2. Directional sensing,</a:t>
            </a:r>
          </a:p>
          <a:p>
            <a:pPr algn="ctr"/>
            <a:r>
              <a:rPr lang="en-US" dirty="0"/>
              <a:t>omnidirectional stimulus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DEF384-2548-1541-6B90-833FD737B8D3}"/>
              </a:ext>
            </a:extLst>
          </p:cNvPr>
          <p:cNvSpPr txBox="1"/>
          <p:nvPr/>
        </p:nvSpPr>
        <p:spPr>
          <a:xfrm>
            <a:off x="8216537" y="1706622"/>
            <a:ext cx="2400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3. Both omnidirectional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C4C8F7-60E7-9B64-89D9-F87A57814C56}"/>
              </a:ext>
            </a:extLst>
          </p:cNvPr>
          <p:cNvSpPr txBox="1"/>
          <p:nvPr/>
        </p:nvSpPr>
        <p:spPr>
          <a:xfrm>
            <a:off x="230569" y="5429249"/>
            <a:ext cx="159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20D4CB-8C2B-2AEC-110D-DFA7C8857D84}"/>
              </a:ext>
            </a:extLst>
          </p:cNvPr>
          <p:cNvSpPr txBox="1"/>
          <p:nvPr/>
        </p:nvSpPr>
        <p:spPr>
          <a:xfrm>
            <a:off x="1447800" y="5429249"/>
            <a:ext cx="2638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Single LED</a:t>
            </a:r>
          </a:p>
          <a:p>
            <a:pPr algn="ctr"/>
            <a:r>
              <a:rPr lang="en-US" dirty="0"/>
              <a:t>and photodiode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FD6149-36F9-29B8-60BB-FC05A949FED0}"/>
              </a:ext>
            </a:extLst>
          </p:cNvPr>
          <p:cNvSpPr txBox="1"/>
          <p:nvPr/>
        </p:nvSpPr>
        <p:spPr>
          <a:xfrm>
            <a:off x="4689838" y="5429249"/>
            <a:ext cx="2812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Audio source</a:t>
            </a:r>
          </a:p>
          <a:p>
            <a:pPr algn="ctr"/>
            <a:r>
              <a:rPr lang="en-US" dirty="0"/>
              <a:t>and directional microphone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21C8B4-9F98-CEAA-7F7F-50D1E8A1A8F2}"/>
              </a:ext>
            </a:extLst>
          </p:cNvPr>
          <p:cNvSpPr txBox="1"/>
          <p:nvPr/>
        </p:nvSpPr>
        <p:spPr>
          <a:xfrm>
            <a:off x="8105775" y="5429249"/>
            <a:ext cx="2638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Radio transmitter </a:t>
            </a:r>
          </a:p>
          <a:p>
            <a:pPr algn="ctr"/>
            <a:r>
              <a:rPr lang="en-US" dirty="0"/>
              <a:t>and receiver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AC6B5F-DD67-17A7-D53A-69E0D57729C5}"/>
              </a:ext>
            </a:extLst>
          </p:cNvPr>
          <p:cNvSpPr txBox="1"/>
          <p:nvPr/>
        </p:nvSpPr>
        <p:spPr>
          <a:xfrm>
            <a:off x="11882362" y="6221791"/>
            <a:ext cx="241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39944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354C4C22-AE81-97FC-8222-549235557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25" y="1300163"/>
            <a:ext cx="4537049" cy="4533900"/>
          </a:xfrm>
          <a:prstGeom prst="rect">
            <a:avLst/>
          </a:prstGeom>
          <a:noFill/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9" name="Rectangle 228">
            <a:extLst>
              <a:ext uri="{FF2B5EF4-FFF2-40B4-BE49-F238E27FC236}">
                <a16:creationId xmlns:a16="http://schemas.microsoft.com/office/drawing/2014/main" id="{720D07B5-1962-49B6-8024-0E6669A91AE3}"/>
              </a:ext>
            </a:extLst>
          </p:cNvPr>
          <p:cNvSpPr/>
          <p:nvPr/>
        </p:nvSpPr>
        <p:spPr>
          <a:xfrm>
            <a:off x="0" y="274320"/>
            <a:ext cx="91178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+mj-lt"/>
                <a:cs typeface="Arial" panose="020B0604020202020204" pitchFamily="34" charset="0"/>
              </a:rPr>
              <a:t>Simulation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C28663-FD75-4730-7535-E92141C283D2}"/>
              </a:ext>
            </a:extLst>
          </p:cNvPr>
          <p:cNvSpPr txBox="1"/>
          <p:nvPr/>
        </p:nvSpPr>
        <p:spPr>
          <a:xfrm>
            <a:off x="5117305" y="1300163"/>
            <a:ext cx="6620669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 fontAlgn="base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</a:rPr>
              <a:t>2D agent-based model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</a:rPr>
              <a:t>(x, y, </a:t>
            </a:r>
            <a:r>
              <a:rPr lang="el-GR" sz="2000" b="0" i="0" u="none" strike="noStrike" dirty="0">
                <a:effectLst/>
              </a:rPr>
              <a:t>θ</a:t>
            </a:r>
            <a:r>
              <a:rPr lang="en-US" sz="2000" b="0" i="0" u="none" strike="noStrike" dirty="0">
                <a:effectLst/>
              </a:rPr>
              <a:t>) and speed [0, v</a:t>
            </a:r>
            <a:r>
              <a:rPr lang="en-US" sz="2000" b="0" i="0" u="none" strike="noStrike" baseline="-25000" dirty="0">
                <a:effectLst/>
              </a:rPr>
              <a:t>max</a:t>
            </a:r>
            <a:r>
              <a:rPr lang="en-US" sz="2000" b="0" i="0" u="none" strike="noStrike" dirty="0">
                <a:effectLst/>
              </a:rPr>
              <a:t>]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</a:rPr>
              <a:t>No boundary conditions</a:t>
            </a:r>
          </a:p>
          <a:p>
            <a:pPr marL="285750" indent="-285750" rtl="0" fontAlgn="base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</a:rPr>
              <a:t>Agent control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</a:rPr>
              <a:t>Global mode switching (uniform agents)</a:t>
            </a:r>
          </a:p>
          <a:p>
            <a:pPr marL="285750" indent="-285750" rtl="0" fontAlgn="base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</a:rPr>
              <a:t>Open-source Python implementation: full code on CEI lab GitHub</a:t>
            </a:r>
          </a:p>
          <a:p>
            <a:pPr marL="742950" lvl="1" indent="-285750" fontAlgn="base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</a:rPr>
              <a:t>https://github.com/CEI-Lab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F2CE4797-B460-7C0B-4790-3B44AA055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6157" y="4546697"/>
            <a:ext cx="1743074" cy="1800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2E3B5775-2CF7-9872-B193-6FB30651BDFA}"/>
              </a:ext>
            </a:extLst>
          </p:cNvPr>
          <p:cNvGrpSpPr/>
          <p:nvPr/>
        </p:nvGrpSpPr>
        <p:grpSpPr>
          <a:xfrm>
            <a:off x="3534508" y="4462097"/>
            <a:ext cx="1283676" cy="1182566"/>
            <a:chOff x="3393831" y="4264270"/>
            <a:chExt cx="1283676" cy="118256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63BB1DE-A5AE-94D5-1BF1-22C22CA07F4E}"/>
                </a:ext>
              </a:extLst>
            </p:cNvPr>
            <p:cNvSpPr/>
            <p:nvPr/>
          </p:nvSpPr>
          <p:spPr>
            <a:xfrm>
              <a:off x="3393831" y="4264270"/>
              <a:ext cx="1283676" cy="1182566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20616B8-CF6F-9B9E-D40E-C6FCB3FF5426}"/>
                </a:ext>
              </a:extLst>
            </p:cNvPr>
            <p:cNvSpPr/>
            <p:nvPr/>
          </p:nvSpPr>
          <p:spPr>
            <a:xfrm>
              <a:off x="3477358" y="4435719"/>
              <a:ext cx="182880" cy="182880"/>
            </a:xfrm>
            <a:prstGeom prst="rect">
              <a:avLst/>
            </a:prstGeom>
            <a:solidFill>
              <a:srgbClr val="0D04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357C133-7838-DC15-41E9-A9CC20B25A62}"/>
                </a:ext>
              </a:extLst>
            </p:cNvPr>
            <p:cNvSpPr/>
            <p:nvPr/>
          </p:nvSpPr>
          <p:spPr>
            <a:xfrm>
              <a:off x="3477358" y="4970583"/>
              <a:ext cx="182880" cy="18288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E9AE5BE-5AFE-71A8-6026-8A2FFE8182F7}"/>
                </a:ext>
              </a:extLst>
            </p:cNvPr>
            <p:cNvSpPr txBox="1"/>
            <p:nvPr/>
          </p:nvSpPr>
          <p:spPr>
            <a:xfrm>
              <a:off x="3743764" y="4299439"/>
              <a:ext cx="9337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High stimulus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4E0873-1F71-EA37-E1CC-33FA697A5537}"/>
                </a:ext>
              </a:extLst>
            </p:cNvPr>
            <p:cNvSpPr txBox="1"/>
            <p:nvPr/>
          </p:nvSpPr>
          <p:spPr>
            <a:xfrm>
              <a:off x="3743764" y="4816720"/>
              <a:ext cx="9337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Low stimulus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C2239B7-FABF-0AB5-8757-EAC7409AAA25}"/>
              </a:ext>
            </a:extLst>
          </p:cNvPr>
          <p:cNvSpPr txBox="1"/>
          <p:nvPr/>
        </p:nvSpPr>
        <p:spPr>
          <a:xfrm>
            <a:off x="11882362" y="6221791"/>
            <a:ext cx="241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942623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Rectangle 228">
            <a:extLst>
              <a:ext uri="{FF2B5EF4-FFF2-40B4-BE49-F238E27FC236}">
                <a16:creationId xmlns:a16="http://schemas.microsoft.com/office/drawing/2014/main" id="{720D07B5-1962-49B6-8024-0E6669A91AE3}"/>
              </a:ext>
            </a:extLst>
          </p:cNvPr>
          <p:cNvSpPr/>
          <p:nvPr/>
        </p:nvSpPr>
        <p:spPr>
          <a:xfrm>
            <a:off x="0" y="274320"/>
            <a:ext cx="91178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+mj-lt"/>
                <a:cs typeface="Arial" panose="020B0604020202020204" pitchFamily="34" charset="0"/>
              </a:rPr>
              <a:t>Love: Turn towards, Slow down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0F372F-EB2B-BAFD-6E9C-1F78D23FC27B}"/>
              </a:ext>
            </a:extLst>
          </p:cNvPr>
          <p:cNvSpPr txBox="1"/>
          <p:nvPr/>
        </p:nvSpPr>
        <p:spPr>
          <a:xfrm>
            <a:off x="411956" y="1272659"/>
            <a:ext cx="61579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2000" b="0" i="0" u="none" strike="noStrike" dirty="0">
                <a:effectLst/>
              </a:rPr>
              <a:t>Directional Stimulus, Directional Sensing</a:t>
            </a:r>
            <a:endParaRPr lang="en-US" sz="2000" b="0" dirty="0">
              <a:effectLst/>
            </a:endParaRPr>
          </a:p>
        </p:txBody>
      </p:sp>
      <p:pic>
        <p:nvPicPr>
          <p:cNvPr id="4" name="love_dir_low">
            <a:hlinkClick r:id="" action="ppaction://media"/>
            <a:extLst>
              <a:ext uri="{FF2B5EF4-FFF2-40B4-BE49-F238E27FC236}">
                <a16:creationId xmlns:a16="http://schemas.microsoft.com/office/drawing/2014/main" id="{3712A24D-ADC1-EBF7-0F2F-71CC6791FF5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956132" y="1989249"/>
            <a:ext cx="2672636" cy="267263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" name="love_dir_mid">
            <a:hlinkClick r:id="" action="ppaction://media"/>
            <a:extLst>
              <a:ext uri="{FF2B5EF4-FFF2-40B4-BE49-F238E27FC236}">
                <a16:creationId xmlns:a16="http://schemas.microsoft.com/office/drawing/2014/main" id="{64DC6FBD-895A-C913-8DBC-A79A45B03389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757867" y="1988342"/>
            <a:ext cx="2674450" cy="267445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6" name="love_dir_high">
            <a:hlinkClick r:id="" action="ppaction://media"/>
            <a:extLst>
              <a:ext uri="{FF2B5EF4-FFF2-40B4-BE49-F238E27FC236}">
                <a16:creationId xmlns:a16="http://schemas.microsoft.com/office/drawing/2014/main" id="{3C7A4D15-6B34-846E-9F93-1C39976ACB32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8561417" y="1988342"/>
            <a:ext cx="2674450" cy="267445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D22D561-C26F-9898-E2E5-73189D243CFA}"/>
              </a:ext>
            </a:extLst>
          </p:cNvPr>
          <p:cNvGrpSpPr/>
          <p:nvPr/>
        </p:nvGrpSpPr>
        <p:grpSpPr>
          <a:xfrm>
            <a:off x="956132" y="4710266"/>
            <a:ext cx="10134384" cy="1017793"/>
            <a:chOff x="956132" y="4710266"/>
            <a:chExt cx="10134384" cy="101779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6AD8564-14F2-6BEC-0F3E-147DBF29751B}"/>
                </a:ext>
              </a:extLst>
            </p:cNvPr>
            <p:cNvSpPr txBox="1"/>
            <p:nvPr/>
          </p:nvSpPr>
          <p:spPr>
            <a:xfrm>
              <a:off x="956132" y="4710266"/>
              <a:ext cx="267263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Low</a:t>
              </a:r>
              <a:br>
                <a:rPr lang="en-US" sz="2000" dirty="0"/>
              </a:br>
              <a:r>
                <a:rPr lang="en-US" sz="2000" dirty="0"/>
                <a:t>Sensing angle = 3</a:t>
              </a:r>
              <a:r>
                <a:rPr lang="el-GR" sz="2000" dirty="0"/>
                <a:t>π</a:t>
              </a:r>
              <a:r>
                <a:rPr lang="en-US" sz="2000" dirty="0"/>
                <a:t>/24</a:t>
              </a:r>
              <a:br>
                <a:rPr lang="en-US" sz="2000" dirty="0"/>
              </a:br>
              <a:r>
                <a:rPr lang="en-US" sz="2000" dirty="0"/>
                <a:t>Gain = 0.25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D7084D0-49F7-0F9D-5F1D-717EE6AA948C}"/>
                </a:ext>
              </a:extLst>
            </p:cNvPr>
            <p:cNvSpPr txBox="1"/>
            <p:nvPr/>
          </p:nvSpPr>
          <p:spPr>
            <a:xfrm>
              <a:off x="4903218" y="4712396"/>
              <a:ext cx="238374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Medium</a:t>
              </a:r>
              <a:br>
                <a:rPr lang="en-US" sz="2000" dirty="0"/>
              </a:br>
              <a:r>
                <a:rPr lang="en-US" sz="2000" dirty="0"/>
                <a:t>Sensing angle = </a:t>
              </a:r>
              <a:r>
                <a:rPr lang="el-GR" sz="2000" dirty="0"/>
                <a:t>π</a:t>
              </a:r>
              <a:r>
                <a:rPr lang="en-US" sz="2000" dirty="0"/>
                <a:t>/3</a:t>
              </a:r>
              <a:br>
                <a:rPr lang="en-US" sz="2000" dirty="0"/>
              </a:br>
              <a:r>
                <a:rPr lang="en-US" sz="2000" dirty="0"/>
                <a:t>Gain = 1.5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D03B23F-34B7-A658-CF94-3FFF7374F6AB}"/>
                </a:ext>
              </a:extLst>
            </p:cNvPr>
            <p:cNvSpPr txBox="1"/>
            <p:nvPr/>
          </p:nvSpPr>
          <p:spPr>
            <a:xfrm>
              <a:off x="8706768" y="4710266"/>
              <a:ext cx="238374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High</a:t>
              </a:r>
              <a:br>
                <a:rPr lang="en-US" sz="2000" dirty="0"/>
              </a:br>
              <a:r>
                <a:rPr lang="en-US" sz="2000" dirty="0"/>
                <a:t>Sensing angle = </a:t>
              </a:r>
              <a:r>
                <a:rPr lang="el-GR" sz="2000" dirty="0"/>
                <a:t>π</a:t>
              </a:r>
              <a:r>
                <a:rPr lang="en-US" sz="2000" dirty="0"/>
                <a:t>/2</a:t>
              </a:r>
              <a:br>
                <a:rPr lang="en-US" sz="2000" dirty="0"/>
              </a:br>
              <a:r>
                <a:rPr lang="en-US" sz="2000" dirty="0"/>
                <a:t>Gain = 2.5</a:t>
              </a:r>
            </a:p>
          </p:txBody>
        </p:sp>
      </p:grpSp>
      <p:pic>
        <p:nvPicPr>
          <p:cNvPr id="10" name="Picture 9" descr="Table&#10;&#10;Description automatically generated">
            <a:extLst>
              <a:ext uri="{FF2B5EF4-FFF2-40B4-BE49-F238E27FC236}">
                <a16:creationId xmlns:a16="http://schemas.microsoft.com/office/drawing/2014/main" id="{CF93BBF4-3B11-3DBA-4054-B2679A466EF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200" y="0"/>
            <a:ext cx="2971800" cy="1447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35600A-60DD-5DFA-ED53-B413D12BD1C9}"/>
              </a:ext>
            </a:extLst>
          </p:cNvPr>
          <p:cNvSpPr txBox="1"/>
          <p:nvPr/>
        </p:nvSpPr>
        <p:spPr>
          <a:xfrm>
            <a:off x="11882362" y="6221791"/>
            <a:ext cx="241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7862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18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818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818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Rectangle 228">
            <a:extLst>
              <a:ext uri="{FF2B5EF4-FFF2-40B4-BE49-F238E27FC236}">
                <a16:creationId xmlns:a16="http://schemas.microsoft.com/office/drawing/2014/main" id="{720D07B5-1962-49B6-8024-0E6669A91AE3}"/>
              </a:ext>
            </a:extLst>
          </p:cNvPr>
          <p:cNvSpPr/>
          <p:nvPr/>
        </p:nvSpPr>
        <p:spPr>
          <a:xfrm>
            <a:off x="0" y="274320"/>
            <a:ext cx="91178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+mj-lt"/>
                <a:cs typeface="Arial" panose="020B0604020202020204" pitchFamily="34" charset="0"/>
              </a:rPr>
              <a:t>Love: Trends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BA83F9A-CC9D-8F12-F232-B9AB066750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8" t="1869" r="32031" b="65909"/>
          <a:stretch/>
        </p:blipFill>
        <p:spPr bwMode="auto">
          <a:xfrm>
            <a:off x="0" y="1585913"/>
            <a:ext cx="8621412" cy="3433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44410CF-FB2E-2FA4-85ED-BA2F12C8774C}"/>
              </a:ext>
            </a:extLst>
          </p:cNvPr>
          <p:cNvSpPr txBox="1"/>
          <p:nvPr/>
        </p:nvSpPr>
        <p:spPr>
          <a:xfrm>
            <a:off x="8621412" y="2093913"/>
            <a:ext cx="3246376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 fontAlgn="base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Kinetic energy always low, except in low-visibility case</a:t>
            </a:r>
            <a:endParaRPr lang="en-US" sz="2000" b="0" i="0" u="none" strike="noStrike" dirty="0">
              <a:effectLst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</a:rPr>
              <a:t>Robust to </a:t>
            </a:r>
            <a:r>
              <a:rPr lang="en-US" sz="2000" dirty="0"/>
              <a:t>changes in gain</a:t>
            </a:r>
            <a:endParaRPr lang="en-US" sz="2000" b="0" i="0" u="none" strike="noStrike" dirty="0">
              <a:effectLst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08D1E9-D3A2-622B-7A73-42B5E76F75AC}"/>
              </a:ext>
            </a:extLst>
          </p:cNvPr>
          <p:cNvSpPr/>
          <p:nvPr/>
        </p:nvSpPr>
        <p:spPr>
          <a:xfrm>
            <a:off x="45394" y="2490280"/>
            <a:ext cx="155643" cy="14915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2B9176-385D-57BB-0253-8448A8FFF796}"/>
              </a:ext>
            </a:extLst>
          </p:cNvPr>
          <p:cNvSpPr/>
          <p:nvPr/>
        </p:nvSpPr>
        <p:spPr>
          <a:xfrm>
            <a:off x="4422468" y="2490280"/>
            <a:ext cx="155643" cy="14915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036A35-BF4A-4980-A93C-2CC47F85BBC4}"/>
              </a:ext>
            </a:extLst>
          </p:cNvPr>
          <p:cNvSpPr txBox="1"/>
          <p:nvPr/>
        </p:nvSpPr>
        <p:spPr>
          <a:xfrm rot="16200000">
            <a:off x="3260097" y="2908730"/>
            <a:ext cx="2405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Sensing Angle </a:t>
            </a:r>
            <a:r>
              <a:rPr lang="el-GR" sz="1800" b="0" i="0" u="none" strike="noStrike" dirty="0">
                <a:effectLst/>
              </a:rPr>
              <a:t>θ</a:t>
            </a:r>
            <a:r>
              <a:rPr lang="en-US" sz="1800" b="0" i="0" u="none" strike="noStrike" dirty="0">
                <a:effectLst/>
              </a:rPr>
              <a:t> (rad)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B71AE3-017A-1B2C-C0D9-412527EADDAF}"/>
              </a:ext>
            </a:extLst>
          </p:cNvPr>
          <p:cNvSpPr txBox="1"/>
          <p:nvPr/>
        </p:nvSpPr>
        <p:spPr>
          <a:xfrm rot="16200000">
            <a:off x="-1082897" y="2908730"/>
            <a:ext cx="2405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Sensing Angle </a:t>
            </a:r>
            <a:r>
              <a:rPr lang="el-GR" sz="1800" b="0" i="0" u="none" strike="noStrike" dirty="0">
                <a:effectLst/>
              </a:rPr>
              <a:t>θ</a:t>
            </a:r>
            <a:r>
              <a:rPr lang="en-US" sz="1800" b="0" i="0" u="none" strike="noStrike" dirty="0">
                <a:effectLst/>
              </a:rPr>
              <a:t> (rad)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D4ED7D-9903-7F9F-C6CF-C95027155713}"/>
              </a:ext>
            </a:extLst>
          </p:cNvPr>
          <p:cNvSpPr/>
          <p:nvPr/>
        </p:nvSpPr>
        <p:spPr>
          <a:xfrm rot="5400000">
            <a:off x="1695000" y="4231735"/>
            <a:ext cx="155643" cy="14915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3B16EB-E9D3-C210-7F3F-A47D1AD7B035}"/>
              </a:ext>
            </a:extLst>
          </p:cNvPr>
          <p:cNvSpPr txBox="1"/>
          <p:nvPr/>
        </p:nvSpPr>
        <p:spPr>
          <a:xfrm>
            <a:off x="1651835" y="4824935"/>
            <a:ext cx="931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Gain (</a:t>
            </a:r>
            <a:r>
              <a:rPr lang="el-GR" dirty="0"/>
              <a:t>γ</a:t>
            </a:r>
            <a:r>
              <a:rPr lang="en-US" dirty="0"/>
              <a:t>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8D8763-F8C2-E7E1-AE96-C1DD6F135F7B}"/>
              </a:ext>
            </a:extLst>
          </p:cNvPr>
          <p:cNvSpPr/>
          <p:nvPr/>
        </p:nvSpPr>
        <p:spPr>
          <a:xfrm rot="5400000">
            <a:off x="6139165" y="4231735"/>
            <a:ext cx="155643" cy="14915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37BB8F-D23B-6026-C624-3B73D19A5A31}"/>
              </a:ext>
            </a:extLst>
          </p:cNvPr>
          <p:cNvSpPr txBox="1"/>
          <p:nvPr/>
        </p:nvSpPr>
        <p:spPr>
          <a:xfrm>
            <a:off x="6096000" y="4824935"/>
            <a:ext cx="931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Gain (</a:t>
            </a:r>
            <a:r>
              <a:rPr lang="el-GR" dirty="0"/>
              <a:t>γ</a:t>
            </a:r>
            <a:r>
              <a:rPr lang="en-US" dirty="0"/>
              <a:t>)</a:t>
            </a:r>
          </a:p>
        </p:txBody>
      </p:sp>
      <p:pic>
        <p:nvPicPr>
          <p:cNvPr id="11" name="Picture 10" descr="Table&#10;&#10;Description automatically generated">
            <a:extLst>
              <a:ext uri="{FF2B5EF4-FFF2-40B4-BE49-F238E27FC236}">
                <a16:creationId xmlns:a16="http://schemas.microsoft.com/office/drawing/2014/main" id="{C0E1D6B5-33F4-4114-3F79-D3623E2E42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200" y="0"/>
            <a:ext cx="2971800" cy="14478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35085C3-709E-C129-6217-93D699FA1F9F}"/>
              </a:ext>
            </a:extLst>
          </p:cNvPr>
          <p:cNvSpPr/>
          <p:nvPr/>
        </p:nvSpPr>
        <p:spPr>
          <a:xfrm rot="5400000">
            <a:off x="2152056" y="59792"/>
            <a:ext cx="216489" cy="32687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E0DA72-84F2-EE5E-F991-251740EECC6F}"/>
              </a:ext>
            </a:extLst>
          </p:cNvPr>
          <p:cNvSpPr txBox="1"/>
          <p:nvPr/>
        </p:nvSpPr>
        <p:spPr>
          <a:xfrm>
            <a:off x="701973" y="1441560"/>
            <a:ext cx="2697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Nearest Neighbor Distance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BF197D-BEAA-4EFC-2CF8-06142647AEB1}"/>
              </a:ext>
            </a:extLst>
          </p:cNvPr>
          <p:cNvSpPr/>
          <p:nvPr/>
        </p:nvSpPr>
        <p:spPr>
          <a:xfrm rot="5400000">
            <a:off x="6620037" y="45932"/>
            <a:ext cx="216489" cy="32687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FF6676-D84A-3C35-C45D-5D91FCBCC352}"/>
              </a:ext>
            </a:extLst>
          </p:cNvPr>
          <p:cNvSpPr txBox="1"/>
          <p:nvPr/>
        </p:nvSpPr>
        <p:spPr>
          <a:xfrm>
            <a:off x="5600322" y="1441560"/>
            <a:ext cx="2697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Kinetic Energy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201C90-9750-FF31-82AC-D8B788B9E7E4}"/>
              </a:ext>
            </a:extLst>
          </p:cNvPr>
          <p:cNvSpPr/>
          <p:nvPr/>
        </p:nvSpPr>
        <p:spPr>
          <a:xfrm>
            <a:off x="4050750" y="2240858"/>
            <a:ext cx="123949" cy="20215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6732BB-71BE-8312-2818-4EDE1E92153D}"/>
              </a:ext>
            </a:extLst>
          </p:cNvPr>
          <p:cNvSpPr/>
          <p:nvPr/>
        </p:nvSpPr>
        <p:spPr>
          <a:xfrm>
            <a:off x="8427824" y="1802402"/>
            <a:ext cx="123949" cy="28131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5886C2-9B00-79B1-F2EC-03BEC5532B96}"/>
              </a:ext>
            </a:extLst>
          </p:cNvPr>
          <p:cNvSpPr txBox="1"/>
          <p:nvPr/>
        </p:nvSpPr>
        <p:spPr>
          <a:xfrm>
            <a:off x="11882362" y="6221791"/>
            <a:ext cx="241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53213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ggression_dir_low">
            <a:hlinkClick r:id="" action="ppaction://media"/>
            <a:extLst>
              <a:ext uri="{FF2B5EF4-FFF2-40B4-BE49-F238E27FC236}">
                <a16:creationId xmlns:a16="http://schemas.microsoft.com/office/drawing/2014/main" id="{3B84CE3E-8EC4-CE4E-EE43-8DAC83C3168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956132" y="1987435"/>
            <a:ext cx="2674450" cy="267445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3" name="aggression_dir_mid">
            <a:hlinkClick r:id="" action="ppaction://media"/>
            <a:extLst>
              <a:ext uri="{FF2B5EF4-FFF2-40B4-BE49-F238E27FC236}">
                <a16:creationId xmlns:a16="http://schemas.microsoft.com/office/drawing/2014/main" id="{38E28309-69BC-8C66-2E4D-34EBAB6494B3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756053" y="1987435"/>
            <a:ext cx="2674450" cy="267445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4" name="aggression_dir_high">
            <a:hlinkClick r:id="" action="ppaction://media"/>
            <a:extLst>
              <a:ext uri="{FF2B5EF4-FFF2-40B4-BE49-F238E27FC236}">
                <a16:creationId xmlns:a16="http://schemas.microsoft.com/office/drawing/2014/main" id="{EAE54FA7-9F6C-72C2-3749-5E379F134FF6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8555974" y="1987435"/>
            <a:ext cx="2674450" cy="267445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29" name="Rectangle 228">
            <a:extLst>
              <a:ext uri="{FF2B5EF4-FFF2-40B4-BE49-F238E27FC236}">
                <a16:creationId xmlns:a16="http://schemas.microsoft.com/office/drawing/2014/main" id="{720D07B5-1962-49B6-8024-0E6669A91AE3}"/>
              </a:ext>
            </a:extLst>
          </p:cNvPr>
          <p:cNvSpPr/>
          <p:nvPr/>
        </p:nvSpPr>
        <p:spPr>
          <a:xfrm>
            <a:off x="0" y="274320"/>
            <a:ext cx="91178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+mj-lt"/>
                <a:cs typeface="Arial" panose="020B0604020202020204" pitchFamily="34" charset="0"/>
              </a:rPr>
              <a:t>Aggression: Turn towards, Speed up</a:t>
            </a:r>
          </a:p>
        </p:txBody>
      </p:sp>
      <p:pic>
        <p:nvPicPr>
          <p:cNvPr id="9" name="Picture 8" descr="Table&#10;&#10;Description automatically generated">
            <a:extLst>
              <a:ext uri="{FF2B5EF4-FFF2-40B4-BE49-F238E27FC236}">
                <a16:creationId xmlns:a16="http://schemas.microsoft.com/office/drawing/2014/main" id="{DEC10FE4-3C00-05D4-402E-3F1B5390DC3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200" y="0"/>
            <a:ext cx="2971800" cy="14573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53F35F-1FA6-25EF-8098-32AEBA9F5945}"/>
              </a:ext>
            </a:extLst>
          </p:cNvPr>
          <p:cNvSpPr txBox="1"/>
          <p:nvPr/>
        </p:nvSpPr>
        <p:spPr>
          <a:xfrm>
            <a:off x="11882362" y="6221791"/>
            <a:ext cx="241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9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C7977AB-7936-F4E4-1811-D09B5C823D66}"/>
              </a:ext>
            </a:extLst>
          </p:cNvPr>
          <p:cNvGrpSpPr/>
          <p:nvPr/>
        </p:nvGrpSpPr>
        <p:grpSpPr>
          <a:xfrm>
            <a:off x="956132" y="4710266"/>
            <a:ext cx="10134384" cy="1017793"/>
            <a:chOff x="956132" y="4710266"/>
            <a:chExt cx="10134384" cy="101779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609C34A-8C91-913A-4E19-14140BA013FC}"/>
                </a:ext>
              </a:extLst>
            </p:cNvPr>
            <p:cNvSpPr txBox="1"/>
            <p:nvPr/>
          </p:nvSpPr>
          <p:spPr>
            <a:xfrm>
              <a:off x="956132" y="4710266"/>
              <a:ext cx="267263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Low</a:t>
              </a:r>
              <a:br>
                <a:rPr lang="en-US" sz="2000" dirty="0"/>
              </a:br>
              <a:r>
                <a:rPr lang="en-US" sz="2000" dirty="0"/>
                <a:t>Sensing angle = 3</a:t>
              </a:r>
              <a:r>
                <a:rPr lang="el-GR" sz="2000" dirty="0"/>
                <a:t>π</a:t>
              </a:r>
              <a:r>
                <a:rPr lang="en-US" sz="2000" dirty="0"/>
                <a:t>/24</a:t>
              </a:r>
              <a:br>
                <a:rPr lang="en-US" sz="2000" dirty="0"/>
              </a:br>
              <a:r>
                <a:rPr lang="en-US" sz="2000" dirty="0"/>
                <a:t>Gain = 0.25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AD54230-511C-5F66-5049-DB1C564BC615}"/>
                </a:ext>
              </a:extLst>
            </p:cNvPr>
            <p:cNvSpPr txBox="1"/>
            <p:nvPr/>
          </p:nvSpPr>
          <p:spPr>
            <a:xfrm>
              <a:off x="4903218" y="4712396"/>
              <a:ext cx="238374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Medium</a:t>
              </a:r>
              <a:br>
                <a:rPr lang="en-US" sz="2000" dirty="0"/>
              </a:br>
              <a:r>
                <a:rPr lang="en-US" sz="2000" dirty="0"/>
                <a:t>Sensing angle = </a:t>
              </a:r>
              <a:r>
                <a:rPr lang="el-GR" sz="2000" dirty="0"/>
                <a:t>π</a:t>
              </a:r>
              <a:r>
                <a:rPr lang="en-US" sz="2000" dirty="0"/>
                <a:t>/3</a:t>
              </a:r>
              <a:br>
                <a:rPr lang="en-US" sz="2000" dirty="0"/>
              </a:br>
              <a:r>
                <a:rPr lang="en-US" sz="2000" dirty="0"/>
                <a:t>Gain = 1.5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46B01C1-C632-F519-8B93-C5947C4BEA18}"/>
                </a:ext>
              </a:extLst>
            </p:cNvPr>
            <p:cNvSpPr txBox="1"/>
            <p:nvPr/>
          </p:nvSpPr>
          <p:spPr>
            <a:xfrm>
              <a:off x="8706768" y="4710266"/>
              <a:ext cx="238374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High</a:t>
              </a:r>
              <a:br>
                <a:rPr lang="en-US" sz="2000" dirty="0"/>
              </a:br>
              <a:r>
                <a:rPr lang="en-US" sz="2000" dirty="0"/>
                <a:t>Sensing angle = </a:t>
              </a:r>
              <a:r>
                <a:rPr lang="el-GR" sz="2000" dirty="0"/>
                <a:t>π</a:t>
              </a:r>
              <a:r>
                <a:rPr lang="en-US" sz="2000" dirty="0"/>
                <a:t>/2</a:t>
              </a:r>
              <a:br>
                <a:rPr lang="en-US" sz="2000" dirty="0"/>
              </a:br>
              <a:r>
                <a:rPr lang="en-US" sz="2000" dirty="0"/>
                <a:t>Gain = 2.5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0E3A417-2621-4960-E658-842BB060F26F}"/>
              </a:ext>
            </a:extLst>
          </p:cNvPr>
          <p:cNvSpPr txBox="1"/>
          <p:nvPr/>
        </p:nvSpPr>
        <p:spPr>
          <a:xfrm>
            <a:off x="411956" y="1272659"/>
            <a:ext cx="61579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2000" b="0" i="0" u="none" strike="noStrike" dirty="0">
                <a:effectLst/>
              </a:rPr>
              <a:t>Directional Stimulus, Directional Sensing</a:t>
            </a:r>
            <a:endParaRPr lang="en-US" sz="20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7808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18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818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818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B6C425B9-9BAA-924C-D951-655E439D10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8" t="2014" r="31847" b="65486"/>
          <a:stretch/>
        </p:blipFill>
        <p:spPr bwMode="auto">
          <a:xfrm>
            <a:off x="0" y="1585913"/>
            <a:ext cx="8621412" cy="3436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9" name="Rectangle 228">
            <a:extLst>
              <a:ext uri="{FF2B5EF4-FFF2-40B4-BE49-F238E27FC236}">
                <a16:creationId xmlns:a16="http://schemas.microsoft.com/office/drawing/2014/main" id="{720D07B5-1962-49B6-8024-0E6669A91AE3}"/>
              </a:ext>
            </a:extLst>
          </p:cNvPr>
          <p:cNvSpPr/>
          <p:nvPr/>
        </p:nvSpPr>
        <p:spPr>
          <a:xfrm>
            <a:off x="0" y="274320"/>
            <a:ext cx="91178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+mj-lt"/>
                <a:cs typeface="Arial" panose="020B0604020202020204" pitchFamily="34" charset="0"/>
              </a:rPr>
              <a:t>Aggression: Trends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2D077A-2BC9-4F26-EA5F-4C1490D51F72}"/>
              </a:ext>
            </a:extLst>
          </p:cNvPr>
          <p:cNvSpPr txBox="1"/>
          <p:nvPr/>
        </p:nvSpPr>
        <p:spPr>
          <a:xfrm>
            <a:off x="8621412" y="2093913"/>
            <a:ext cx="3443588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 fontAlgn="base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</a:rPr>
              <a:t>Sensitive to both sensing  angle and gain</a:t>
            </a:r>
            <a:br>
              <a:rPr lang="en-US" sz="2000" b="0" i="0" u="none" strike="noStrike" dirty="0">
                <a:effectLst/>
              </a:rPr>
            </a:br>
            <a:endParaRPr lang="en-US" sz="2000" b="0" i="0" u="none" strike="noStrike" dirty="0">
              <a:effectLst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Demonstrates a range of clustering and speeds</a:t>
            </a:r>
            <a:endParaRPr lang="en-US" sz="2000" b="0" i="0" u="none" strike="noStrike" dirty="0"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8DBF4E-388A-ABE1-A481-D9791257DE2E}"/>
              </a:ext>
            </a:extLst>
          </p:cNvPr>
          <p:cNvSpPr/>
          <p:nvPr/>
        </p:nvSpPr>
        <p:spPr>
          <a:xfrm>
            <a:off x="45394" y="2490280"/>
            <a:ext cx="155643" cy="14915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FE37C9-C7A4-8538-09F6-CAA439E78CBA}"/>
              </a:ext>
            </a:extLst>
          </p:cNvPr>
          <p:cNvSpPr/>
          <p:nvPr/>
        </p:nvSpPr>
        <p:spPr>
          <a:xfrm>
            <a:off x="4411108" y="2490280"/>
            <a:ext cx="155643" cy="14915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52ECD1-A583-E00C-2C4B-E810C077E381}"/>
              </a:ext>
            </a:extLst>
          </p:cNvPr>
          <p:cNvSpPr txBox="1"/>
          <p:nvPr/>
        </p:nvSpPr>
        <p:spPr>
          <a:xfrm rot="16200000">
            <a:off x="-1082897" y="2908730"/>
            <a:ext cx="2405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Sensing Angle </a:t>
            </a:r>
            <a:r>
              <a:rPr lang="el-GR" sz="1800" b="0" i="0" u="none" strike="noStrike" dirty="0">
                <a:effectLst/>
              </a:rPr>
              <a:t>θ</a:t>
            </a:r>
            <a:r>
              <a:rPr lang="en-US" sz="1800" b="0" i="0" u="none" strike="noStrike" dirty="0">
                <a:effectLst/>
              </a:rPr>
              <a:t> (rad)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1955D7-4530-4FA3-697A-4D48C2AD9485}"/>
              </a:ext>
            </a:extLst>
          </p:cNvPr>
          <p:cNvSpPr/>
          <p:nvPr/>
        </p:nvSpPr>
        <p:spPr>
          <a:xfrm rot="5400000">
            <a:off x="1707236" y="4217221"/>
            <a:ext cx="155643" cy="14915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9FCB0A-72D8-B8FF-17BE-A83927DAC534}"/>
              </a:ext>
            </a:extLst>
          </p:cNvPr>
          <p:cNvSpPr txBox="1"/>
          <p:nvPr/>
        </p:nvSpPr>
        <p:spPr>
          <a:xfrm>
            <a:off x="1664071" y="4810421"/>
            <a:ext cx="931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Gain (</a:t>
            </a:r>
            <a:r>
              <a:rPr lang="el-GR" dirty="0"/>
              <a:t>γ</a:t>
            </a:r>
            <a:r>
              <a:rPr lang="en-US" dirty="0"/>
              <a:t>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07F699-0EFB-F4F7-D11F-C6098742C9F2}"/>
              </a:ext>
            </a:extLst>
          </p:cNvPr>
          <p:cNvSpPr/>
          <p:nvPr/>
        </p:nvSpPr>
        <p:spPr>
          <a:xfrm rot="5400000">
            <a:off x="6082175" y="4217221"/>
            <a:ext cx="155643" cy="14915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67187A-8770-6502-7DAE-C03CD2E72B4C}"/>
              </a:ext>
            </a:extLst>
          </p:cNvPr>
          <p:cNvSpPr txBox="1"/>
          <p:nvPr/>
        </p:nvSpPr>
        <p:spPr>
          <a:xfrm>
            <a:off x="6039010" y="4810421"/>
            <a:ext cx="931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Gain (</a:t>
            </a:r>
            <a:r>
              <a:rPr lang="el-GR" dirty="0"/>
              <a:t>γ</a:t>
            </a:r>
            <a:r>
              <a:rPr lang="en-US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212B33-7806-3376-F7C2-931DEE300858}"/>
              </a:ext>
            </a:extLst>
          </p:cNvPr>
          <p:cNvSpPr txBox="1"/>
          <p:nvPr/>
        </p:nvSpPr>
        <p:spPr>
          <a:xfrm rot="16200000">
            <a:off x="3260097" y="2908730"/>
            <a:ext cx="2405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Sensing Angle </a:t>
            </a:r>
            <a:r>
              <a:rPr lang="el-GR" sz="1800" b="0" i="0" u="none" strike="noStrike" dirty="0">
                <a:effectLst/>
              </a:rPr>
              <a:t>θ</a:t>
            </a:r>
            <a:r>
              <a:rPr lang="en-US" sz="1800" b="0" i="0" u="none" strike="noStrike" dirty="0">
                <a:effectLst/>
              </a:rPr>
              <a:t> (rad)</a:t>
            </a:r>
            <a:endParaRPr lang="en-US" dirty="0"/>
          </a:p>
        </p:txBody>
      </p:sp>
      <p:pic>
        <p:nvPicPr>
          <p:cNvPr id="2" name="Picture 1" descr="Table&#10;&#10;Description automatically generated">
            <a:extLst>
              <a:ext uri="{FF2B5EF4-FFF2-40B4-BE49-F238E27FC236}">
                <a16:creationId xmlns:a16="http://schemas.microsoft.com/office/drawing/2014/main" id="{156A2EE1-6B1E-0547-052E-CFC855447B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200" y="0"/>
            <a:ext cx="2971800" cy="145732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33A2205-5612-A655-DEFD-E5293705E6A2}"/>
              </a:ext>
            </a:extLst>
          </p:cNvPr>
          <p:cNvSpPr/>
          <p:nvPr/>
        </p:nvSpPr>
        <p:spPr>
          <a:xfrm rot="5400000">
            <a:off x="2137542" y="69468"/>
            <a:ext cx="216489" cy="32687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FC3FE4-E929-3074-9B3C-59891404AFF8}"/>
              </a:ext>
            </a:extLst>
          </p:cNvPr>
          <p:cNvSpPr txBox="1"/>
          <p:nvPr/>
        </p:nvSpPr>
        <p:spPr>
          <a:xfrm>
            <a:off x="692297" y="1451236"/>
            <a:ext cx="2697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Nearest Neighbor Distance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DE6BF2-4C7B-27F7-AA5E-C0A58ED4245C}"/>
              </a:ext>
            </a:extLst>
          </p:cNvPr>
          <p:cNvSpPr/>
          <p:nvPr/>
        </p:nvSpPr>
        <p:spPr>
          <a:xfrm rot="5400000">
            <a:off x="6595847" y="50770"/>
            <a:ext cx="216489" cy="32687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63DD22-221C-B3F4-F076-D11AEE524896}"/>
              </a:ext>
            </a:extLst>
          </p:cNvPr>
          <p:cNvSpPr txBox="1"/>
          <p:nvPr/>
        </p:nvSpPr>
        <p:spPr>
          <a:xfrm>
            <a:off x="5590646" y="1451236"/>
            <a:ext cx="2697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Kinetic Energy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385F01-F20C-4D0D-E77E-C42B966101EA}"/>
              </a:ext>
            </a:extLst>
          </p:cNvPr>
          <p:cNvSpPr/>
          <p:nvPr/>
        </p:nvSpPr>
        <p:spPr>
          <a:xfrm>
            <a:off x="4021722" y="2265048"/>
            <a:ext cx="123949" cy="20215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41EBCA-DC9D-0CEE-6FFE-CA5DA52EF531}"/>
              </a:ext>
            </a:extLst>
          </p:cNvPr>
          <p:cNvSpPr/>
          <p:nvPr/>
        </p:nvSpPr>
        <p:spPr>
          <a:xfrm>
            <a:off x="8408472" y="1802402"/>
            <a:ext cx="123949" cy="28131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41B6DE-3F2B-37D1-2004-9DE10AF12D65}"/>
              </a:ext>
            </a:extLst>
          </p:cNvPr>
          <p:cNvSpPr txBox="1"/>
          <p:nvPr/>
        </p:nvSpPr>
        <p:spPr>
          <a:xfrm>
            <a:off x="11572724" y="6221791"/>
            <a:ext cx="5515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587649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ear_dir_low">
            <a:hlinkClick r:id="" action="ppaction://media"/>
            <a:extLst>
              <a:ext uri="{FF2B5EF4-FFF2-40B4-BE49-F238E27FC236}">
                <a16:creationId xmlns:a16="http://schemas.microsoft.com/office/drawing/2014/main" id="{2FF8E6C2-916F-0E49-C146-4CA15BDE06F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956132" y="1987435"/>
            <a:ext cx="2674450" cy="267445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3" name="fear_dir_mid">
            <a:hlinkClick r:id="" action="ppaction://media"/>
            <a:extLst>
              <a:ext uri="{FF2B5EF4-FFF2-40B4-BE49-F238E27FC236}">
                <a16:creationId xmlns:a16="http://schemas.microsoft.com/office/drawing/2014/main" id="{41C68A8C-E68F-32FE-8341-35170916B422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756053" y="1987435"/>
            <a:ext cx="2674450" cy="267445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4" name="fear_dir_high">
            <a:hlinkClick r:id="" action="ppaction://media"/>
            <a:extLst>
              <a:ext uri="{FF2B5EF4-FFF2-40B4-BE49-F238E27FC236}">
                <a16:creationId xmlns:a16="http://schemas.microsoft.com/office/drawing/2014/main" id="{3F185E92-1073-9689-F35F-4B4C9A37E73A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8555973" y="1987434"/>
            <a:ext cx="2674451" cy="267445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29" name="Rectangle 228">
            <a:extLst>
              <a:ext uri="{FF2B5EF4-FFF2-40B4-BE49-F238E27FC236}">
                <a16:creationId xmlns:a16="http://schemas.microsoft.com/office/drawing/2014/main" id="{720D07B5-1962-49B6-8024-0E6669A91AE3}"/>
              </a:ext>
            </a:extLst>
          </p:cNvPr>
          <p:cNvSpPr/>
          <p:nvPr/>
        </p:nvSpPr>
        <p:spPr>
          <a:xfrm>
            <a:off x="0" y="274320"/>
            <a:ext cx="91178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+mj-lt"/>
                <a:cs typeface="Arial" panose="020B0604020202020204" pitchFamily="34" charset="0"/>
              </a:rPr>
              <a:t>Fear: Turn away, Slow down</a:t>
            </a:r>
          </a:p>
        </p:txBody>
      </p:sp>
      <p:pic>
        <p:nvPicPr>
          <p:cNvPr id="9" name="Picture 8" descr="Table&#10;&#10;Description automatically generated">
            <a:extLst>
              <a:ext uri="{FF2B5EF4-FFF2-40B4-BE49-F238E27FC236}">
                <a16:creationId xmlns:a16="http://schemas.microsoft.com/office/drawing/2014/main" id="{291B08B4-63E5-F054-C2E6-7B077815A49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0675" y="0"/>
            <a:ext cx="2981325" cy="1447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4B00AF-7E11-CE00-2935-371D92AC4A8F}"/>
              </a:ext>
            </a:extLst>
          </p:cNvPr>
          <p:cNvSpPr txBox="1"/>
          <p:nvPr/>
        </p:nvSpPr>
        <p:spPr>
          <a:xfrm>
            <a:off x="11529181" y="6221791"/>
            <a:ext cx="5950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11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38E445B-ACF2-D04E-2E36-BCD9D50E5293}"/>
              </a:ext>
            </a:extLst>
          </p:cNvPr>
          <p:cNvGrpSpPr/>
          <p:nvPr/>
        </p:nvGrpSpPr>
        <p:grpSpPr>
          <a:xfrm>
            <a:off x="956132" y="4710266"/>
            <a:ext cx="10134384" cy="1017793"/>
            <a:chOff x="956132" y="4710266"/>
            <a:chExt cx="10134384" cy="101779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136C409-7763-DAC2-CAC4-7804C1018EB9}"/>
                </a:ext>
              </a:extLst>
            </p:cNvPr>
            <p:cNvSpPr txBox="1"/>
            <p:nvPr/>
          </p:nvSpPr>
          <p:spPr>
            <a:xfrm>
              <a:off x="956132" y="4710266"/>
              <a:ext cx="267263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Low</a:t>
              </a:r>
              <a:br>
                <a:rPr lang="en-US" sz="2000" dirty="0"/>
              </a:br>
              <a:r>
                <a:rPr lang="en-US" sz="2000" dirty="0"/>
                <a:t>Sensing angle = 3</a:t>
              </a:r>
              <a:r>
                <a:rPr lang="el-GR" sz="2000" dirty="0"/>
                <a:t>π</a:t>
              </a:r>
              <a:r>
                <a:rPr lang="en-US" sz="2000" dirty="0"/>
                <a:t>/24</a:t>
              </a:r>
              <a:br>
                <a:rPr lang="en-US" sz="2000" dirty="0"/>
              </a:br>
              <a:r>
                <a:rPr lang="en-US" sz="2000" dirty="0"/>
                <a:t>Gain = 0.25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5E6CF82-C152-CE35-B664-073BFC89F30D}"/>
                </a:ext>
              </a:extLst>
            </p:cNvPr>
            <p:cNvSpPr txBox="1"/>
            <p:nvPr/>
          </p:nvSpPr>
          <p:spPr>
            <a:xfrm>
              <a:off x="4903218" y="4712396"/>
              <a:ext cx="238374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Medium</a:t>
              </a:r>
              <a:br>
                <a:rPr lang="en-US" sz="2000" dirty="0"/>
              </a:br>
              <a:r>
                <a:rPr lang="en-US" sz="2000" dirty="0"/>
                <a:t>Sensing angle = </a:t>
              </a:r>
              <a:r>
                <a:rPr lang="el-GR" sz="2000" dirty="0"/>
                <a:t>π</a:t>
              </a:r>
              <a:r>
                <a:rPr lang="en-US" sz="2000" dirty="0"/>
                <a:t>/3</a:t>
              </a:r>
              <a:br>
                <a:rPr lang="en-US" sz="2000" dirty="0"/>
              </a:br>
              <a:r>
                <a:rPr lang="en-US" sz="2000" dirty="0"/>
                <a:t>Gain = 1.5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AF00F16-A141-F627-EC0C-0A2C932E3DA6}"/>
                </a:ext>
              </a:extLst>
            </p:cNvPr>
            <p:cNvSpPr txBox="1"/>
            <p:nvPr/>
          </p:nvSpPr>
          <p:spPr>
            <a:xfrm>
              <a:off x="8706768" y="4710266"/>
              <a:ext cx="238374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High</a:t>
              </a:r>
              <a:br>
                <a:rPr lang="en-US" sz="2000" dirty="0"/>
              </a:br>
              <a:r>
                <a:rPr lang="en-US" sz="2000" dirty="0"/>
                <a:t>Sensing angle = </a:t>
              </a:r>
              <a:r>
                <a:rPr lang="el-GR" sz="2000" dirty="0"/>
                <a:t>π</a:t>
              </a:r>
              <a:r>
                <a:rPr lang="en-US" sz="2000" dirty="0"/>
                <a:t>/2</a:t>
              </a:r>
              <a:br>
                <a:rPr lang="en-US" sz="2000" dirty="0"/>
              </a:br>
              <a:r>
                <a:rPr lang="en-US" sz="2000" dirty="0"/>
                <a:t>Gain = 2.5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CD1E731-A51F-287F-BE35-EB0CB160092F}"/>
              </a:ext>
            </a:extLst>
          </p:cNvPr>
          <p:cNvSpPr txBox="1"/>
          <p:nvPr/>
        </p:nvSpPr>
        <p:spPr>
          <a:xfrm>
            <a:off x="411956" y="1272659"/>
            <a:ext cx="61579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2000" b="0" i="0" u="none" strike="noStrike" dirty="0">
                <a:effectLst/>
              </a:rPr>
              <a:t>Directional Stimulus, Directional Sensing</a:t>
            </a:r>
            <a:endParaRPr lang="en-US" sz="20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45215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18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818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818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uriosity_dir_low">
            <a:hlinkClick r:id="" action="ppaction://media"/>
            <a:extLst>
              <a:ext uri="{FF2B5EF4-FFF2-40B4-BE49-F238E27FC236}">
                <a16:creationId xmlns:a16="http://schemas.microsoft.com/office/drawing/2014/main" id="{F9837E87-1B26-EC57-895E-0E8DBBF0F43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963177" y="1987435"/>
            <a:ext cx="2674450" cy="267445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29" name="Rectangle 228">
            <a:extLst>
              <a:ext uri="{FF2B5EF4-FFF2-40B4-BE49-F238E27FC236}">
                <a16:creationId xmlns:a16="http://schemas.microsoft.com/office/drawing/2014/main" id="{720D07B5-1962-49B6-8024-0E6669A91AE3}"/>
              </a:ext>
            </a:extLst>
          </p:cNvPr>
          <p:cNvSpPr/>
          <p:nvPr/>
        </p:nvSpPr>
        <p:spPr>
          <a:xfrm>
            <a:off x="0" y="274320"/>
            <a:ext cx="91178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+mj-lt"/>
                <a:cs typeface="Arial" panose="020B0604020202020204" pitchFamily="34" charset="0"/>
              </a:rPr>
              <a:t>Curiosity: Turn away, Speed up</a:t>
            </a:r>
          </a:p>
        </p:txBody>
      </p:sp>
      <p:pic>
        <p:nvPicPr>
          <p:cNvPr id="5" name="curiosity_dir_mid">
            <a:hlinkClick r:id="" action="ppaction://media"/>
            <a:extLst>
              <a:ext uri="{FF2B5EF4-FFF2-40B4-BE49-F238E27FC236}">
                <a16:creationId xmlns:a16="http://schemas.microsoft.com/office/drawing/2014/main" id="{4CFDC632-C1EA-B3BC-9612-8BB96DEAA214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749008" y="1987435"/>
            <a:ext cx="2674450" cy="267445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6" name="curiosity_dir_high">
            <a:hlinkClick r:id="" action="ppaction://media"/>
            <a:extLst>
              <a:ext uri="{FF2B5EF4-FFF2-40B4-BE49-F238E27FC236}">
                <a16:creationId xmlns:a16="http://schemas.microsoft.com/office/drawing/2014/main" id="{AE4FF019-5133-573F-E67C-114479368300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8561415" y="1994478"/>
            <a:ext cx="2667407" cy="266740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3" name="Picture 2" descr="Table&#10;&#10;Description automatically generated">
            <a:extLst>
              <a:ext uri="{FF2B5EF4-FFF2-40B4-BE49-F238E27FC236}">
                <a16:creationId xmlns:a16="http://schemas.microsoft.com/office/drawing/2014/main" id="{CD3A0178-9B46-FC32-A5D1-835774BB9A9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0675" y="0"/>
            <a:ext cx="2981325" cy="14573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517027-D156-CC39-1418-110F9A72B499}"/>
              </a:ext>
            </a:extLst>
          </p:cNvPr>
          <p:cNvSpPr txBox="1"/>
          <p:nvPr/>
        </p:nvSpPr>
        <p:spPr>
          <a:xfrm>
            <a:off x="11703352" y="6221791"/>
            <a:ext cx="4209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12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7794398-1E8D-9A38-6893-B2EE7FDFD179}"/>
              </a:ext>
            </a:extLst>
          </p:cNvPr>
          <p:cNvGrpSpPr/>
          <p:nvPr/>
        </p:nvGrpSpPr>
        <p:grpSpPr>
          <a:xfrm>
            <a:off x="956132" y="4710266"/>
            <a:ext cx="10134384" cy="1017793"/>
            <a:chOff x="956132" y="4710266"/>
            <a:chExt cx="10134384" cy="101779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AA74E1A-4AC1-3ADB-93CA-F0E59F3A5F28}"/>
                </a:ext>
              </a:extLst>
            </p:cNvPr>
            <p:cNvSpPr txBox="1"/>
            <p:nvPr/>
          </p:nvSpPr>
          <p:spPr>
            <a:xfrm>
              <a:off x="956132" y="4710266"/>
              <a:ext cx="267263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Low</a:t>
              </a:r>
              <a:br>
                <a:rPr lang="en-US" sz="2000" dirty="0"/>
              </a:br>
              <a:r>
                <a:rPr lang="en-US" sz="2000" dirty="0"/>
                <a:t>Sensing angle = 3</a:t>
              </a:r>
              <a:r>
                <a:rPr lang="el-GR" sz="2000" dirty="0"/>
                <a:t>π</a:t>
              </a:r>
              <a:r>
                <a:rPr lang="en-US" sz="2000" dirty="0"/>
                <a:t>/24</a:t>
              </a:r>
              <a:br>
                <a:rPr lang="en-US" sz="2000" dirty="0"/>
              </a:br>
              <a:r>
                <a:rPr lang="en-US" sz="2000" dirty="0"/>
                <a:t>Gain = 0.25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2481EE0-3AE2-EB87-270A-83B2456B0206}"/>
                </a:ext>
              </a:extLst>
            </p:cNvPr>
            <p:cNvSpPr txBox="1"/>
            <p:nvPr/>
          </p:nvSpPr>
          <p:spPr>
            <a:xfrm>
              <a:off x="4903218" y="4712396"/>
              <a:ext cx="238374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Medium</a:t>
              </a:r>
              <a:br>
                <a:rPr lang="en-US" sz="2000" dirty="0"/>
              </a:br>
              <a:r>
                <a:rPr lang="en-US" sz="2000" dirty="0"/>
                <a:t>Sensing angle = </a:t>
              </a:r>
              <a:r>
                <a:rPr lang="el-GR" sz="2000" dirty="0"/>
                <a:t>π</a:t>
              </a:r>
              <a:r>
                <a:rPr lang="en-US" sz="2000" dirty="0"/>
                <a:t>/3</a:t>
              </a:r>
              <a:br>
                <a:rPr lang="en-US" sz="2000" dirty="0"/>
              </a:br>
              <a:r>
                <a:rPr lang="en-US" sz="2000" dirty="0"/>
                <a:t>Gain = 1.5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B972A32-261E-6BE8-AD96-0C23A3129391}"/>
                </a:ext>
              </a:extLst>
            </p:cNvPr>
            <p:cNvSpPr txBox="1"/>
            <p:nvPr/>
          </p:nvSpPr>
          <p:spPr>
            <a:xfrm>
              <a:off x="8706768" y="4710266"/>
              <a:ext cx="238374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High</a:t>
              </a:r>
              <a:br>
                <a:rPr lang="en-US" sz="2000" dirty="0"/>
              </a:br>
              <a:r>
                <a:rPr lang="en-US" sz="2000" dirty="0"/>
                <a:t>Sensing angle = </a:t>
              </a:r>
              <a:r>
                <a:rPr lang="el-GR" sz="2000" dirty="0"/>
                <a:t>π</a:t>
              </a:r>
              <a:r>
                <a:rPr lang="en-US" sz="2000" dirty="0"/>
                <a:t>/2</a:t>
              </a:r>
              <a:br>
                <a:rPr lang="en-US" sz="2000" dirty="0"/>
              </a:br>
              <a:r>
                <a:rPr lang="en-US" sz="2000" dirty="0"/>
                <a:t>Gain = 2.5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2D4FE61-A1FA-4194-AD26-663D479CE328}"/>
              </a:ext>
            </a:extLst>
          </p:cNvPr>
          <p:cNvSpPr txBox="1"/>
          <p:nvPr/>
        </p:nvSpPr>
        <p:spPr>
          <a:xfrm>
            <a:off x="411956" y="1272659"/>
            <a:ext cx="61579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2000" b="0" i="0" u="none" strike="noStrike" dirty="0">
                <a:effectLst/>
              </a:rPr>
              <a:t>Directional Stimulus, Directional Sensing</a:t>
            </a:r>
            <a:endParaRPr lang="en-US" sz="20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11495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18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818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818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ggression_dir_no_noise">
            <a:hlinkClick r:id="" action="ppaction://media"/>
            <a:extLst>
              <a:ext uri="{FF2B5EF4-FFF2-40B4-BE49-F238E27FC236}">
                <a16:creationId xmlns:a16="http://schemas.microsoft.com/office/drawing/2014/main" id="{A79F3B69-8553-A866-E05F-D08A088F49C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956131" y="1989250"/>
            <a:ext cx="2672635" cy="267263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F75E733-8816-5500-3EC0-FA258FEC063A}"/>
              </a:ext>
            </a:extLst>
          </p:cNvPr>
          <p:cNvSpPr/>
          <p:nvPr/>
        </p:nvSpPr>
        <p:spPr>
          <a:xfrm>
            <a:off x="0" y="274320"/>
            <a:ext cx="91178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+mj-lt"/>
                <a:cs typeface="Arial" panose="020B0604020202020204" pitchFamily="34" charset="0"/>
              </a:rPr>
              <a:t>The Effect of Noise on Actuation</a:t>
            </a:r>
          </a:p>
        </p:txBody>
      </p:sp>
      <p:pic>
        <p:nvPicPr>
          <p:cNvPr id="3" name="aggression_dir_mid_noise">
            <a:hlinkClick r:id="" action="ppaction://media"/>
            <a:extLst>
              <a:ext uri="{FF2B5EF4-FFF2-40B4-BE49-F238E27FC236}">
                <a16:creationId xmlns:a16="http://schemas.microsoft.com/office/drawing/2014/main" id="{35853F69-77FB-9030-0019-304591E1D0E8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757865" y="1987435"/>
            <a:ext cx="2674450" cy="267445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4" name="aggression_dir_high_noise">
            <a:hlinkClick r:id="" action="ppaction://media"/>
            <a:extLst>
              <a:ext uri="{FF2B5EF4-FFF2-40B4-BE49-F238E27FC236}">
                <a16:creationId xmlns:a16="http://schemas.microsoft.com/office/drawing/2014/main" id="{CB5D63BA-D593-23F5-6EDA-0A4482B16879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8561412" y="1987435"/>
            <a:ext cx="2699094" cy="269909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746C6B-5B4B-47E1-4FED-F28A73010D17}"/>
              </a:ext>
            </a:extLst>
          </p:cNvPr>
          <p:cNvSpPr txBox="1"/>
          <p:nvPr/>
        </p:nvSpPr>
        <p:spPr>
          <a:xfrm>
            <a:off x="11543695" y="6221791"/>
            <a:ext cx="580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13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70310C8-8A33-1C47-F9B3-2E19F96494C7}"/>
              </a:ext>
            </a:extLst>
          </p:cNvPr>
          <p:cNvGrpSpPr/>
          <p:nvPr/>
        </p:nvGrpSpPr>
        <p:grpSpPr>
          <a:xfrm>
            <a:off x="956132" y="4710266"/>
            <a:ext cx="10134384" cy="1017793"/>
            <a:chOff x="956132" y="4710266"/>
            <a:chExt cx="10134384" cy="101779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7B7D9C-BB5E-34E7-66C0-EFEC27AFAE95}"/>
                </a:ext>
              </a:extLst>
            </p:cNvPr>
            <p:cNvSpPr txBox="1"/>
            <p:nvPr/>
          </p:nvSpPr>
          <p:spPr>
            <a:xfrm>
              <a:off x="956132" y="4710266"/>
              <a:ext cx="267263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No noise</a:t>
              </a:r>
              <a:br>
                <a:rPr lang="en-US" sz="2000" dirty="0"/>
              </a:br>
              <a:r>
                <a:rPr lang="en-US" sz="2000" dirty="0"/>
                <a:t>Sensing angle = </a:t>
              </a:r>
              <a:r>
                <a:rPr lang="el-GR" sz="2000" dirty="0"/>
                <a:t>π</a:t>
              </a:r>
              <a:r>
                <a:rPr lang="en-US" sz="2000" dirty="0"/>
                <a:t>/3</a:t>
              </a:r>
              <a:br>
                <a:rPr lang="en-US" sz="2000" dirty="0"/>
              </a:br>
              <a:r>
                <a:rPr lang="en-US" sz="2000" dirty="0"/>
                <a:t>Gain = 1.5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7E3E9BE-9331-0EEC-786A-29C02D6AB0AA}"/>
                </a:ext>
              </a:extLst>
            </p:cNvPr>
            <p:cNvSpPr txBox="1"/>
            <p:nvPr/>
          </p:nvSpPr>
          <p:spPr>
            <a:xfrm>
              <a:off x="4903218" y="4712396"/>
              <a:ext cx="238374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~5° noise</a:t>
              </a:r>
              <a:br>
                <a:rPr lang="en-US" sz="2000" dirty="0"/>
              </a:br>
              <a:r>
                <a:rPr lang="en-US" sz="2000" dirty="0"/>
                <a:t>Sensing angle = </a:t>
              </a:r>
              <a:r>
                <a:rPr lang="el-GR" sz="2000" dirty="0"/>
                <a:t>π</a:t>
              </a:r>
              <a:r>
                <a:rPr lang="en-US" sz="2000" dirty="0"/>
                <a:t>/3</a:t>
              </a:r>
              <a:br>
                <a:rPr lang="en-US" sz="2000" dirty="0"/>
              </a:br>
              <a:r>
                <a:rPr lang="en-US" sz="2000" dirty="0"/>
                <a:t>Gain = 1.5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A2001EF-AC9A-F320-4AA7-70C6D3305342}"/>
                </a:ext>
              </a:extLst>
            </p:cNvPr>
            <p:cNvSpPr txBox="1"/>
            <p:nvPr/>
          </p:nvSpPr>
          <p:spPr>
            <a:xfrm>
              <a:off x="8706768" y="4710266"/>
              <a:ext cx="2383748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~50° noise</a:t>
              </a:r>
              <a:br>
                <a:rPr lang="en-US" sz="2000" dirty="0"/>
              </a:br>
              <a:r>
                <a:rPr lang="en-US" sz="2000" dirty="0"/>
                <a:t>Sensing angle = </a:t>
              </a:r>
              <a:r>
                <a:rPr lang="el-GR" sz="2000" dirty="0"/>
                <a:t>π</a:t>
              </a:r>
              <a:r>
                <a:rPr lang="en-US" sz="2000" dirty="0"/>
                <a:t>/3</a:t>
              </a:r>
              <a:br>
                <a:rPr lang="en-US" sz="2000" dirty="0"/>
              </a:br>
              <a:r>
                <a:rPr lang="en-US" sz="2000" dirty="0"/>
                <a:t>Gain = 1.5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D2CCA19-4967-7CB6-10B7-79A3F0C02598}"/>
              </a:ext>
            </a:extLst>
          </p:cNvPr>
          <p:cNvSpPr txBox="1"/>
          <p:nvPr/>
        </p:nvSpPr>
        <p:spPr>
          <a:xfrm>
            <a:off x="411956" y="1272659"/>
            <a:ext cx="61579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2000" b="0" i="0" u="none" strike="noStrike" dirty="0">
                <a:effectLst/>
              </a:rPr>
              <a:t>Aggression with directional </a:t>
            </a:r>
            <a:r>
              <a:rPr lang="en-US" sz="2000" dirty="0"/>
              <a:t>s</a:t>
            </a:r>
            <a:r>
              <a:rPr lang="en-US" sz="2000" b="0" i="0" u="none" strike="noStrike" dirty="0">
                <a:effectLst/>
              </a:rPr>
              <a:t>timulus &amp; sensing</a:t>
            </a:r>
            <a:endParaRPr lang="en-US" sz="20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71528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18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818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818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399223-F47E-9958-3E20-2DBBF8555EB1}"/>
              </a:ext>
            </a:extLst>
          </p:cNvPr>
          <p:cNvSpPr txBox="1"/>
          <p:nvPr/>
        </p:nvSpPr>
        <p:spPr>
          <a:xfrm>
            <a:off x="5479256" y="1181541"/>
            <a:ext cx="6157912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W</a:t>
            </a:r>
            <a:r>
              <a:rPr lang="en-US" sz="2000" b="0" i="0" u="none" strike="noStrike" dirty="0">
                <a:effectLst/>
              </a:rPr>
              <a:t>ell-grounded model for more formal design of reactive, multimodal collectives.</a:t>
            </a:r>
          </a:p>
          <a:p>
            <a:pPr rtl="0">
              <a:spcBef>
                <a:spcPts val="0"/>
              </a:spcBef>
              <a:spcAft>
                <a:spcPts val="1800"/>
              </a:spcAft>
            </a:pPr>
            <a:r>
              <a:rPr lang="en-US" sz="2000" dirty="0"/>
              <a:t>P</a:t>
            </a:r>
            <a:r>
              <a:rPr lang="en-US" sz="2000" b="0" i="0" u="none" strike="noStrike" dirty="0">
                <a:effectLst/>
              </a:rPr>
              <a:t>romising applications for resource-constrained artificial collectives!</a:t>
            </a:r>
            <a:br>
              <a:rPr lang="en-US" sz="2000" b="0" i="0" u="none" strike="noStrike" dirty="0">
                <a:effectLst/>
              </a:rPr>
            </a:br>
            <a:endParaRPr lang="en-US" sz="2000" b="0" i="0" u="none" strike="noStrike" dirty="0">
              <a:effectLst/>
            </a:endParaRPr>
          </a:p>
          <a:p>
            <a:pPr rtl="0">
              <a:spcBef>
                <a:spcPts val="0"/>
              </a:spcBef>
              <a:spcAft>
                <a:spcPts val="1800"/>
              </a:spcAft>
            </a:pPr>
            <a:r>
              <a:rPr lang="en-US" sz="2000" b="1" i="0" u="none" strike="noStrike" dirty="0">
                <a:effectLst/>
              </a:rPr>
              <a:t>Next Steps</a:t>
            </a:r>
            <a:endParaRPr lang="en-US" sz="2000" b="1" dirty="0">
              <a:effectLst/>
            </a:endParaRPr>
          </a:p>
          <a:p>
            <a:pPr marL="285750" indent="-285750" rtl="0" fontAlgn="base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</a:rPr>
              <a:t>Agent-environment interactions</a:t>
            </a:r>
          </a:p>
          <a:p>
            <a:pPr marL="285750" indent="-285750" rtl="0" fontAlgn="base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</a:rPr>
              <a:t>Adversarial agents</a:t>
            </a:r>
          </a:p>
          <a:p>
            <a:pPr marL="285750" indent="-285750" rtl="0" fontAlgn="base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</a:rPr>
              <a:t>Compositional system design</a:t>
            </a:r>
          </a:p>
        </p:txBody>
      </p:sp>
      <p:pic>
        <p:nvPicPr>
          <p:cNvPr id="2" name="demo_video">
            <a:hlinkClick r:id="" action="ppaction://media"/>
            <a:extLst>
              <a:ext uri="{FF2B5EF4-FFF2-40B4-BE49-F238E27FC236}">
                <a16:creationId xmlns:a16="http://schemas.microsoft.com/office/drawing/2014/main" id="{162006CB-6FB0-B428-1C61-5F8CECC81E5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28584" y="999404"/>
            <a:ext cx="4881907" cy="488190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BD8CC6C-6D3B-509D-CF46-A101D52B092A}"/>
              </a:ext>
            </a:extLst>
          </p:cNvPr>
          <p:cNvSpPr/>
          <p:nvPr/>
        </p:nvSpPr>
        <p:spPr>
          <a:xfrm>
            <a:off x="0" y="274320"/>
            <a:ext cx="91178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+mj-lt"/>
                <a:cs typeface="Arial" panose="020B0604020202020204" pitchFamily="34" charset="0"/>
              </a:rPr>
              <a:t>Conclusions and Next Steps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556A56-81F6-D95C-A163-CED5DCE3D11E}"/>
              </a:ext>
            </a:extLst>
          </p:cNvPr>
          <p:cNvSpPr txBox="1"/>
          <p:nvPr/>
        </p:nvSpPr>
        <p:spPr>
          <a:xfrm>
            <a:off x="11732381" y="6221791"/>
            <a:ext cx="391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9479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47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4" descr="Image result for scott mcart cornell&quot;">
            <a:extLst>
              <a:ext uri="{FF2B5EF4-FFF2-40B4-BE49-F238E27FC236}">
                <a16:creationId xmlns:a16="http://schemas.microsoft.com/office/drawing/2014/main" id="{7754EFA5-8CC5-C3BA-DFC0-C2A97026CAEE}"/>
              </a:ext>
            </a:extLst>
          </p:cNvPr>
          <p:cNvPicPr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09" r="14824"/>
          <a:stretch/>
        </p:blipFill>
        <p:spPr bwMode="auto">
          <a:xfrm>
            <a:off x="9583367" y="1715047"/>
            <a:ext cx="1188720" cy="155448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BE1A1F-6B12-89D3-1B49-E2B2A7C26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525A0-6F00-4A77-8AB6-990EBD81267F}" type="slidenum">
              <a:rPr lang="en-DE" smtClean="0"/>
              <a:t>15</a:t>
            </a:fld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24C6F0-949A-59D8-E126-D691F58E23B8}"/>
              </a:ext>
            </a:extLst>
          </p:cNvPr>
          <p:cNvSpPr txBox="1"/>
          <p:nvPr/>
        </p:nvSpPr>
        <p:spPr>
          <a:xfrm>
            <a:off x="178487" y="1078390"/>
            <a:ext cx="93551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1000"/>
              </a:spcAft>
            </a:pPr>
            <a:r>
              <a:rPr lang="en-US" sz="2800" b="0" i="0" u="sng" strike="noStrike" dirty="0">
                <a:solidFill>
                  <a:srgbClr val="0097A7"/>
                </a:solidFill>
                <a:effectLst/>
                <a:hlinkClick r:id="rId3"/>
              </a:rPr>
              <a:t>https://github.com/CEI-lab/DARS2022-BVcollectives</a:t>
            </a:r>
            <a:endParaRPr lang="en-US" sz="2800" b="0" dirty="0">
              <a:effectLst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5AB92F-3CED-C494-357C-B88AB301B4EA}"/>
              </a:ext>
            </a:extLst>
          </p:cNvPr>
          <p:cNvSpPr/>
          <p:nvPr/>
        </p:nvSpPr>
        <p:spPr>
          <a:xfrm>
            <a:off x="0" y="274320"/>
            <a:ext cx="1219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latin typeface="+mj-lt"/>
                <a:cs typeface="Arial" panose="020B0604020202020204" pitchFamily="34" charset="0"/>
              </a:rPr>
              <a:t>Thank you!</a:t>
            </a:r>
          </a:p>
        </p:txBody>
      </p:sp>
      <p:pic>
        <p:nvPicPr>
          <p:cNvPr id="10" name="Picture 2" descr="https://sites.coecis.cornell.edu/petersen/files/2019/11/Group_Photo_cropped.jpg">
            <a:extLst>
              <a:ext uri="{FF2B5EF4-FFF2-40B4-BE49-F238E27FC236}">
                <a16:creationId xmlns:a16="http://schemas.microsoft.com/office/drawing/2014/main" id="{B766A1B8-E247-0B52-8EB6-A319BA5696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2" t="4375" r="8083" b="22709"/>
          <a:stretch/>
        </p:blipFill>
        <p:spPr bwMode="auto">
          <a:xfrm>
            <a:off x="2148644" y="3490349"/>
            <a:ext cx="6034744" cy="287181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Image result for alyosha molnar">
            <a:extLst>
              <a:ext uri="{FF2B5EF4-FFF2-40B4-BE49-F238E27FC236}">
                <a16:creationId xmlns:a16="http://schemas.microsoft.com/office/drawing/2014/main" id="{967978E2-CBBA-CCEC-D559-66991EC5C2A4}"/>
              </a:ext>
            </a:extLst>
          </p:cNvPr>
          <p:cNvPicPr>
            <a:picLocks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7" r="25137"/>
          <a:stretch/>
        </p:blipFill>
        <p:spPr bwMode="auto">
          <a:xfrm>
            <a:off x="10871571" y="3310843"/>
            <a:ext cx="1188720" cy="1554480"/>
          </a:xfrm>
          <a:prstGeom prst="rect">
            <a:avLst/>
          </a:prstGeom>
          <a:ln w="952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Picture 10" descr="Related image">
            <a:extLst>
              <a:ext uri="{FF2B5EF4-FFF2-40B4-BE49-F238E27FC236}">
                <a16:creationId xmlns:a16="http://schemas.microsoft.com/office/drawing/2014/main" id="{899334CB-3A26-C1E1-BECF-9BC40D2B94F7}"/>
              </a:ext>
            </a:extLst>
          </p:cNvPr>
          <p:cNvPicPr>
            <a:picLocks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04" t="1092" r="22382" b="35834"/>
          <a:stretch/>
        </p:blipFill>
        <p:spPr bwMode="auto">
          <a:xfrm>
            <a:off x="9583367" y="3310843"/>
            <a:ext cx="1188720" cy="1554480"/>
          </a:xfrm>
          <a:prstGeom prst="rect">
            <a:avLst/>
          </a:prstGeom>
          <a:ln w="952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Picture 6" descr="https://sites.coecis.cornell.edu/petersen/files/2019/06/JacobPeters.jpg">
            <a:extLst>
              <a:ext uri="{FF2B5EF4-FFF2-40B4-BE49-F238E27FC236}">
                <a16:creationId xmlns:a16="http://schemas.microsoft.com/office/drawing/2014/main" id="{84A58DA3-97A9-24AB-E40A-C501A3B9B3DD}"/>
              </a:ext>
            </a:extLst>
          </p:cNvPr>
          <p:cNvPicPr>
            <a:picLocks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76"/>
          <a:stretch/>
        </p:blipFill>
        <p:spPr bwMode="auto">
          <a:xfrm>
            <a:off x="9583367" y="110825"/>
            <a:ext cx="1188720" cy="155448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0" descr="Image result for michael smith bee&quot;">
            <a:extLst>
              <a:ext uri="{FF2B5EF4-FFF2-40B4-BE49-F238E27FC236}">
                <a16:creationId xmlns:a16="http://schemas.microsoft.com/office/drawing/2014/main" id="{F876DFF3-25A4-4AB3-19E6-2EEBE68000DE}"/>
              </a:ext>
            </a:extLst>
          </p:cNvPr>
          <p:cNvPicPr>
            <a:picLocks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89" t="4529" r="38311" b="46270"/>
          <a:stretch/>
        </p:blipFill>
        <p:spPr bwMode="auto">
          <a:xfrm>
            <a:off x="10871571" y="4926259"/>
            <a:ext cx="1188720" cy="155448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6" descr="Image result for nils napp cornell&quot;">
            <a:extLst>
              <a:ext uri="{FF2B5EF4-FFF2-40B4-BE49-F238E27FC236}">
                <a16:creationId xmlns:a16="http://schemas.microsoft.com/office/drawing/2014/main" id="{AC4CABBA-25B2-6072-43B8-90A6EC28CF8F}"/>
              </a:ext>
            </a:extLst>
          </p:cNvPr>
          <p:cNvPicPr>
            <a:picLocks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2" t="8665" r="28219" b="27211"/>
          <a:stretch/>
        </p:blipFill>
        <p:spPr bwMode="auto">
          <a:xfrm>
            <a:off x="8315097" y="1715047"/>
            <a:ext cx="1188720" cy="155448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https://cei.ece.cornell.edu/files/2017/12/MS_KressGazit-1vlm174.jpg">
            <a:extLst>
              <a:ext uri="{FF2B5EF4-FFF2-40B4-BE49-F238E27FC236}">
                <a16:creationId xmlns:a16="http://schemas.microsoft.com/office/drawing/2014/main" id="{2175B78D-438D-5AE6-9781-E23C06FEC2FC}"/>
              </a:ext>
            </a:extLst>
          </p:cNvPr>
          <p:cNvPicPr>
            <a:picLocks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3367" y="4926259"/>
            <a:ext cx="1188720" cy="155448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 descr="https://cei.ece.cornell.edu/files/2017/12/Hoffman-2i1at64.jpg">
            <a:extLst>
              <a:ext uri="{FF2B5EF4-FFF2-40B4-BE49-F238E27FC236}">
                <a16:creationId xmlns:a16="http://schemas.microsoft.com/office/drawing/2014/main" id="{434992AD-34C7-8A1C-8EAF-50687DA0DA7A}"/>
              </a:ext>
            </a:extLst>
          </p:cNvPr>
          <p:cNvPicPr>
            <a:picLocks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5097" y="4926259"/>
            <a:ext cx="1188720" cy="155448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0" descr="https://cei.ece.cornell.edu/files/2020/01/goldman.jpg">
            <a:extLst>
              <a:ext uri="{FF2B5EF4-FFF2-40B4-BE49-F238E27FC236}">
                <a16:creationId xmlns:a16="http://schemas.microsoft.com/office/drawing/2014/main" id="{CE7C56DE-B96C-0CAE-33FE-CFFA577D0BD6}"/>
              </a:ext>
            </a:extLst>
          </p:cNvPr>
          <p:cNvPicPr>
            <a:picLocks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1571" y="1715047"/>
            <a:ext cx="1188720" cy="155448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4" descr="https://cei.ece.cornell.edu/files/2017/12/Justine1x150-110ym64.jpg">
            <a:extLst>
              <a:ext uri="{FF2B5EF4-FFF2-40B4-BE49-F238E27FC236}">
                <a16:creationId xmlns:a16="http://schemas.microsoft.com/office/drawing/2014/main" id="{51BAF036-569B-244A-E75E-1A0B17556C70}"/>
              </a:ext>
            </a:extLst>
          </p:cNvPr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5097" y="3310843"/>
            <a:ext cx="1188720" cy="155448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>
            <a:extLst>
              <a:ext uri="{FF2B5EF4-FFF2-40B4-BE49-F238E27FC236}">
                <a16:creationId xmlns:a16="http://schemas.microsoft.com/office/drawing/2014/main" id="{37958DC3-6E3B-B168-F844-26D09238B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5097" y="110825"/>
            <a:ext cx="1188720" cy="1543286"/>
          </a:xfrm>
          <a:prstGeom prst="rect">
            <a:avLst/>
          </a:prstGeom>
          <a:ln w="952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>
            <a:extLst>
              <a:ext uri="{FF2B5EF4-FFF2-40B4-BE49-F238E27FC236}">
                <a16:creationId xmlns:a16="http://schemas.microsoft.com/office/drawing/2014/main" id="{66096AFF-0F73-2D8C-9FEE-61CFAC176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1571" y="108042"/>
            <a:ext cx="1182761" cy="1554480"/>
          </a:xfrm>
          <a:prstGeom prst="rect">
            <a:avLst/>
          </a:prstGeom>
          <a:ln w="952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89A08FF5-C089-A55D-5735-6C89C3A65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530" y="1601610"/>
            <a:ext cx="1769193" cy="1827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8A10E58-3666-2BB4-60EF-2D117C5CB0C1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l="2963" t="14352" r="85162" b="77130"/>
          <a:stretch/>
        </p:blipFill>
        <p:spPr>
          <a:xfrm>
            <a:off x="4451618" y="1936888"/>
            <a:ext cx="3288764" cy="1327046"/>
          </a:xfrm>
          <a:prstGeom prst="rect">
            <a:avLst/>
          </a:prstGeom>
        </p:spPr>
      </p:pic>
      <p:pic>
        <p:nvPicPr>
          <p:cNvPr id="28" name="Picture 2" descr="Image result">
            <a:extLst>
              <a:ext uri="{FF2B5EF4-FFF2-40B4-BE49-F238E27FC236}">
                <a16:creationId xmlns:a16="http://schemas.microsoft.com/office/drawing/2014/main" id="{BD1BE67D-AB73-503A-7D46-45A69AF53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386" y="4442737"/>
            <a:ext cx="1905483" cy="1916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8047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5105</TotalTime>
  <Words>777</Words>
  <Application>Microsoft Office PowerPoint</Application>
  <PresentationFormat>Widescreen</PresentationFormat>
  <Paragraphs>135</Paragraphs>
  <Slides>15</Slides>
  <Notes>14</Notes>
  <HiddenSlides>0</HiddenSlides>
  <MMClips>17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Characterization of the Design Space of Collective Braitenberg Vehicles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Alexandra Quay Nilles</cp:lastModifiedBy>
  <cp:revision>187</cp:revision>
  <dcterms:created xsi:type="dcterms:W3CDTF">2021-09-02T18:32:50Z</dcterms:created>
  <dcterms:modified xsi:type="dcterms:W3CDTF">2023-05-24T20:41:00Z</dcterms:modified>
</cp:coreProperties>
</file>